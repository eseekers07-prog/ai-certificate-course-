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D727F9-6259-4AD1-96AF-44C56444A785}" type="datetimeFigureOut">
              <a:t>8/2/2026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0D9136-4E36-4F43-AF06-2EA0D0581B8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972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554480"/>
            <a:ext cx="5120640" cy="5120640"/>
          </a:xfrm>
          <a:prstGeom prst="ellipse">
            <a:avLst/>
          </a:prstGeom>
          <a:solidFill>
            <a:srgbClr val="1A2138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297680"/>
            <a:ext cx="2743200" cy="2743200"/>
          </a:xfrm>
          <a:prstGeom prst="ellipse">
            <a:avLst/>
          </a:prstGeom>
          <a:solidFill>
            <a:srgbClr val="1C2440"/>
          </a:solidFill>
          <a:ln/>
        </p:spPr>
      </p:sp>
      <p:sp>
        <p:nvSpPr>
          <p:cNvPr id="4" name="Shape 2"/>
          <p:cNvSpPr/>
          <p:nvPr/>
        </p:nvSpPr>
        <p:spPr>
          <a:xfrm>
            <a:off x="-1188720" y="4663440"/>
            <a:ext cx="3108960" cy="3108960"/>
          </a:xfrm>
          <a:prstGeom prst="ellipse">
            <a:avLst/>
          </a:prstGeom>
          <a:solidFill>
            <a:srgbClr val="181F3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ASSISTANTS  •  AUTOMATION  •  RESPONSIBLE USE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10241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Coding Assistants</a:t>
            </a:r>
            <a:endParaRPr lang="en-US" sz="39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Modern Workplace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anyone can use AI to generate, debug, and understand code — no computer science degree required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22960" y="5029200"/>
            <a:ext cx="1280160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120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techniques for analysts, marketers, and operations professionals — not just developers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AI Coding Assistants?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that read, write, and explain computer code when you describe what you want in plain English — no need to already know a programming language.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07492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  <a:effectLst>
            <a:outerShdw blurRad="101600" dist="38100" dir="5400000" algn="bl" rotWithShape="0">
              <a:srgbClr val="C7CCD9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514600"/>
            <a:ext cx="594360" cy="59436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514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737360" y="25603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to You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4526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repetitive spreadsheet or reporting tasks yourself, without waiting on IT.</a:t>
            </a:r>
            <a:endParaRPr lang="en-US" sz="1350" dirty="0"/>
          </a:p>
          <a:p>
            <a:pPr marL="0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your developers and analysts are doing, and ask better questions.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 prototype an idea before handing it to a technical team.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080760" y="2194560"/>
            <a:ext cx="5074920" cy="3886200"/>
          </a:xfrm>
          <a:prstGeom prst="roundRect">
            <a:avLst>
              <a:gd name="adj" fmla="val 2824"/>
            </a:avLst>
          </a:prstGeom>
          <a:solidFill>
            <a:srgbClr val="111827"/>
          </a:solidFill>
          <a:ln/>
          <a:effectLst>
            <a:outerShdw blurRad="101600" dist="38100" dir="5400000" algn="bl" rotWithShape="0">
              <a:srgbClr val="C7CCD9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2514600"/>
            <a:ext cx="594360" cy="5943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514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178040" y="25603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Already Using It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355080" y="3246120"/>
            <a:ext cx="4526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CB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developers, for writing and reviewing code faster.</a:t>
            </a:r>
            <a:endParaRPr lang="en-US" sz="1350" dirty="0"/>
          </a:p>
          <a:p>
            <a:pPr marL="0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CB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analysts, automating Excel and Google Sheets workflows.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B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Marketers and ops staff, building simple forms, trackers, and automations.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Popular AI Coding Assistants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  <a:effectLst>
            <a:outerShdw blurRad="76200" dist="25400" dir="5400000" algn="bl" rotWithShape="0">
              <a:srgbClr val="C7CCD9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16736" y="2194560"/>
            <a:ext cx="731520" cy="7315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1316736" y="2194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Copilot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359359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/ GitHub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3931920"/>
            <a:ext cx="17556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code as developers type, inside their editor.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71216" y="187452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  <a:effectLst>
            <a:outerShdw blurRad="76200" dist="25400" dir="5400000" algn="bl" rotWithShape="0">
              <a:srgbClr val="C7CCD9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47872" y="2194560"/>
            <a:ext cx="731520" cy="7315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2194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962656" y="310896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ChatGPT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962656" y="359359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35808" y="3931920"/>
            <a:ext cx="17556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— describe a task, get code and an explanation.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02352" y="187452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  <a:effectLst>
            <a:outerShdw blurRad="76200" dist="25400" dir="5400000" algn="bl" rotWithShape="0">
              <a:srgbClr val="C7CCD9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79008" y="2194560"/>
            <a:ext cx="731520" cy="7315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8" name="Text 16"/>
          <p:cNvSpPr/>
          <p:nvPr/>
        </p:nvSpPr>
        <p:spPr>
          <a:xfrm>
            <a:off x="5779008" y="2194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193792" y="310896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193792" y="359359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66944" y="3931920"/>
            <a:ext cx="17556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at explaining, reviewing, and reasoning through code.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33488" y="187452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  <a:effectLst>
            <a:outerShdw blurRad="76200" dist="25400" dir="5400000" algn="bl" rotWithShape="0">
              <a:srgbClr val="C7CCD9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10144" y="2194560"/>
            <a:ext cx="731520" cy="7315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8010144" y="2194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424928" y="310896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Gemini Code Assist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424928" y="359359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98080" y="3931920"/>
            <a:ext cx="17556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Google's developer and Workspace tools.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564624" y="187452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  <a:effectLst>
            <a:outerShdw blurRad="76200" dist="25400" dir="5400000" algn="bl" rotWithShape="0">
              <a:srgbClr val="C7CCD9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241280" y="2194560"/>
            <a:ext cx="731520" cy="7315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0" name="Text 28"/>
          <p:cNvSpPr/>
          <p:nvPr/>
        </p:nvSpPr>
        <p:spPr>
          <a:xfrm>
            <a:off x="10241280" y="2194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656064" y="3108960"/>
            <a:ext cx="1901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Cursor / Replit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656064" y="3593592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729216" y="3931920"/>
            <a:ext cx="17556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AI-native environments — describe an app, watch it get built.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news: you don't need to pick the “right” one to start — the prompting techniques on the next few slides work across all of them.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Generating Code with Natural Language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describe the task in plain English — the tool writes the code. It's the same as briefing a skilled assistant, just with a keyboard instead of a conversation.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8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221284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the tool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343400" y="2148840"/>
            <a:ext cx="6812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where the code should run: Excel, Google Sheets, a web page, Python.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090672"/>
            <a:ext cx="10881360" cy="0"/>
          </a:xfrm>
          <a:prstGeom prst="line">
            <a:avLst/>
          </a:prstGeom>
          <a:noFill/>
          <a:ln w="12700">
            <a:solidFill>
              <a:srgbClr val="E2E5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33756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337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326440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Describe the input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343400" y="3200400"/>
            <a:ext cx="6812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or trigger starts the task? “A spreadsheet column called Status.”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142232"/>
            <a:ext cx="10881360" cy="0"/>
          </a:xfrm>
          <a:prstGeom prst="line">
            <a:avLst/>
          </a:prstGeom>
          <a:noFill/>
          <a:ln w="12700">
            <a:solidFill>
              <a:srgbClr val="E2E5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389120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431596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Describe the output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343400" y="4251960"/>
            <a:ext cx="6812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happen? “Send an email” or “highlight the row in red.”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193792"/>
            <a:ext cx="10881360" cy="0"/>
          </a:xfrm>
          <a:prstGeom prst="line">
            <a:avLst/>
          </a:prstGeom>
          <a:noFill/>
          <a:ln w="12700">
            <a:solidFill>
              <a:srgbClr val="E2E5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544068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5440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536752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for plain-English steps too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343400" y="5303520"/>
            <a:ext cx="6812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“Also explain how to install or run this.” Removes the guesswork.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Automating a Spreadsheet Task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EEF0F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2024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“Write a Google Sheets script that checks column C. If the value is ‘Overdue’, send me an email with the row's details.”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AI RETURNS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6309360" cy="2606040"/>
          </a:xfrm>
          <a:prstGeom prst="roundRect">
            <a:avLst>
              <a:gd name="adj" fmla="val 2807"/>
            </a:avLst>
          </a:prstGeom>
          <a:solidFill>
            <a:srgbClr val="1E2233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3355848"/>
            <a:ext cx="5907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APPS SCRIPT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41248" y="3657600"/>
            <a:ext cx="5907024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C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checkOverdue() {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C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rows = SpreadsheetApp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C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.getActiveSheet().getDataRange().getValues();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C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rows.forEach(row =&gt; {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C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(row[2] === "Overdue") {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C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MailApp.sendEmail("you@company.com",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C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"Overdue item", "Row: " + row.join(", "));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C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C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C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178040" y="3246120"/>
            <a:ext cx="434340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0" y="340156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PLAIN-ENGLISH EXPLANATION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406640" y="3703320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checks every row. If column C says “Overdue,” it emails you the row's details automatically — no manual checking needed.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406640" y="5120640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ask “where do I paste this?” if you're not sure.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 &amp; Error Explanation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something breaks — a red error message, a formula that won't calculate — paste it into an AI tool and ask for a plain-English explanation.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2806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  <a:effectLst>
            <a:outerShdw blurRad="76200" dist="25400" dir="5400000" algn="bl" rotWithShape="0">
              <a:srgbClr val="C7CCD9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51460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487168"/>
            <a:ext cx="42748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Paste the exact error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3154680"/>
            <a:ext cx="48234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full message — small details often point to the real cause.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240780" y="2286000"/>
            <a:ext cx="52806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  <a:effectLst>
            <a:outerShdw blurRad="76200" dist="25400" dir="5400000" algn="bl" rotWithShape="0">
              <a:srgbClr val="C7CCD9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69380" y="251460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646938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63740" y="2487168"/>
            <a:ext cx="42748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what you were doing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69380" y="3154680"/>
            <a:ext cx="48234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happened when I tried to filter column B.” Context helps accuracy.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640080" y="4389120"/>
            <a:ext cx="52806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  <a:effectLst>
            <a:outerShdw blurRad="76200" dist="25400" dir="5400000" algn="bl" rotWithShape="0">
              <a:srgbClr val="C7CCD9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461772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4590288"/>
            <a:ext cx="42748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for the fix, not just the cause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68680" y="5257800"/>
            <a:ext cx="48234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should I change, step by step?” gets an actionable answer.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6240780" y="4389120"/>
            <a:ext cx="52806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  <a:effectLst>
            <a:outerShdw blurRad="76200" dist="25400" dir="5400000" algn="bl" rotWithShape="0">
              <a:srgbClr val="C7CCD9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69380" y="461772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46938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63740" y="4590288"/>
            <a:ext cx="42748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“why” once you understand “what”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69380" y="5257800"/>
            <a:ext cx="48234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your own troubleshooting skill for next time.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Turning an Error into an Explanation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74920" cy="4480560"/>
          </a:xfrm>
          <a:prstGeom prst="roundRect">
            <a:avLst>
              <a:gd name="adj" fmla="val 2449"/>
            </a:avLst>
          </a:prstGeom>
          <a:solidFill>
            <a:srgbClr val="FBEAE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013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B1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CONFUSING ERROR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2148840"/>
            <a:ext cx="4617720" cy="1051560"/>
          </a:xfrm>
          <a:prstGeom prst="roundRect">
            <a:avLst>
              <a:gd name="adj" fmla="val 6957"/>
            </a:avLst>
          </a:prstGeom>
          <a:solidFill>
            <a:srgbClr val="1E2233"/>
          </a:solidFill>
          <a:ln/>
        </p:spPr>
      </p:sp>
      <p:sp>
        <p:nvSpPr>
          <p:cNvPr id="7" name="Text 5"/>
          <p:cNvSpPr/>
          <p:nvPr/>
        </p:nvSpPr>
        <p:spPr>
          <a:xfrm>
            <a:off x="1069848" y="2258568"/>
            <a:ext cx="42153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F2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69848" y="2560320"/>
            <a:ext cx="421538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C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#REF! error in cell D12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338328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A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703320"/>
            <a:ext cx="4617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“Explain this Excel error in plain language and tell me how to fix it: #REF! in cell D12.”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80760" y="1600200"/>
            <a:ext cx="5074920" cy="4480560"/>
          </a:xfrm>
          <a:prstGeom prst="roundRect">
            <a:avLst>
              <a:gd name="adj" fmla="val 2449"/>
            </a:avLst>
          </a:prstGeom>
          <a:solidFill>
            <a:srgbClr val="E6F3EE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8013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8E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PLAIN-ENGLISH ANSWER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09360" y="2194560"/>
            <a:ext cx="4617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“#REF! means a formula is pointing to a cell that no longer exists — usually because a row or column was deleted.</a:t>
            </a:r>
            <a:endParaRPr lang="en-US" sz="1300" dirty="0"/>
          </a:p>
          <a:p>
            <a:pPr marL="0" indent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fix it: open the formula in D12, find the broken reference, and reselect the correct cell.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prevent it: avoid deleting rows/columns that formulas depend on.”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Documentation &amp; Commenting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explain what an existing script or macro does, line by line, and add plain-language comments — invaluable when you inherit something no one documented.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566928" cy="56692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86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2194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Inherited a spreadsheet macro?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623560" y="2148840"/>
            <a:ext cx="5532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“Explain what this macro does, step by step, in plain English.”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273552"/>
            <a:ext cx="10881360" cy="0"/>
          </a:xfrm>
          <a:prstGeom prst="line">
            <a:avLst/>
          </a:prstGeom>
          <a:noFill/>
          <a:ln w="12700">
            <a:solidFill>
              <a:srgbClr val="E2E5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520440"/>
            <a:ext cx="566928" cy="5669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5204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342900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Sharing a script with a colleague?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623560" y="3383280"/>
            <a:ext cx="5532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“Add comments explaining each part, so someone new can follow it.”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507992"/>
            <a:ext cx="10881360" cy="0"/>
          </a:xfrm>
          <a:prstGeom prst="line">
            <a:avLst/>
          </a:prstGeom>
          <a:noFill/>
          <a:ln w="12700">
            <a:solidFill>
              <a:srgbClr val="E2E5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754880"/>
            <a:ext cx="566928" cy="56692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7548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46634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Auditing an old automation?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623560" y="4617720"/>
            <a:ext cx="5532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“Summarize what this does and flag anything that looks risky.”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Adding Plain-Language Comments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UNDOCUMENTED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120640" cy="1828800"/>
          </a:xfrm>
          <a:prstGeom prst="roundRect">
            <a:avLst>
              <a:gd name="adj" fmla="val 4000"/>
            </a:avLst>
          </a:prstGeom>
          <a:solidFill>
            <a:srgbClr val="1E2233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892808"/>
            <a:ext cx="4718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9C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SNIPPET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41248" y="2194560"/>
            <a:ext cx="471830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C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 CleanData()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C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Range("A:A").RemoveDuplicates 1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C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Range("B:B").NumberFormat = "0.00"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C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Sub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126480" y="1463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WITH AI-ADDED COMMENTS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783080"/>
            <a:ext cx="5394960" cy="2423160"/>
          </a:xfrm>
          <a:prstGeom prst="roundRect">
            <a:avLst>
              <a:gd name="adj" fmla="val 3019"/>
            </a:avLst>
          </a:prstGeom>
          <a:solidFill>
            <a:srgbClr val="1E2233"/>
          </a:solidFill>
          <a:ln/>
        </p:spPr>
      </p:sp>
      <p:sp>
        <p:nvSpPr>
          <p:cNvPr id="10" name="Text 8"/>
          <p:cNvSpPr/>
          <p:nvPr/>
        </p:nvSpPr>
        <p:spPr>
          <a:xfrm>
            <a:off x="6327648" y="1892808"/>
            <a:ext cx="49926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SNIPPET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27648" y="2194560"/>
            <a:ext cx="4992624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C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 CleanData()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C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 Remove duplicate entries in column A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C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Range("A:A").RemoveDuplicates 1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C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 Format column B as currency with 2 decimals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C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Range("B:B").NumberFormat = "0.00"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DC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Sub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3977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29768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EEF0F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43484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“Add comments to this macro explaining what each line does, written for someone who has never coded before.”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544068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next person who opens this file understands it in seconds, not hours.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Optimization Suggestions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something works, ask the AI to make it faster, more reliable, or easier to maintain — often a quick follow-up question is all it takes.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120640" cy="3931920"/>
          </a:xfrm>
          <a:prstGeom prst="roundRect">
            <a:avLst>
              <a:gd name="adj" fmla="val 2791"/>
            </a:avLst>
          </a:prstGeom>
          <a:solidFill>
            <a:srgbClr val="11182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23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THESE FOLLOW-UP PROMPTS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takes 5 minutes to run on 10,000 rows — can you make it faster?”</a:t>
            </a:r>
            <a:endParaRPr lang="en-US" sz="1350" dirty="0"/>
          </a:p>
          <a:p>
            <a:pPr marL="0" indent="0">
              <a:lnSpc>
                <a:spcPct val="125000"/>
              </a:lnSpc>
              <a:spcAft>
                <a:spcPts val="1400"/>
              </a:spcAft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“Simplify this so it's easier for a beginner to edit later.”</a:t>
            </a:r>
            <a:endParaRPr lang="en-US" sz="13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could break this if the data changes?”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080760" y="214884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6080760" y="2148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66560" y="20756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766560" y="244144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large datasets in batches instead of one row at a time.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80760" y="342900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6080760" y="3429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66560" y="33558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reliable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66560" y="372160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checks for missing or unexpected data before it runs.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80760" y="470916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7" name="Text 15"/>
          <p:cNvSpPr/>
          <p:nvPr/>
        </p:nvSpPr>
        <p:spPr>
          <a:xfrm>
            <a:off x="6080760" y="4709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66560" y="463600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Easier to maintain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766560" y="500176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a long script into smaller, clearly-named steps.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 of AI-Generated 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566928" cy="5669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202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186537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434840" y="1783080"/>
            <a:ext cx="6720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Non-programmers can automate real tasks without waiting for a developer.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816352"/>
            <a:ext cx="10881360" cy="0"/>
          </a:xfrm>
          <a:prstGeom prst="line">
            <a:avLst/>
          </a:prstGeom>
          <a:noFill/>
          <a:ln w="12700">
            <a:solidFill>
              <a:srgbClr val="E2E5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971800"/>
            <a:ext cx="566928" cy="5669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971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9169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savings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434840" y="2834640"/>
            <a:ext cx="6720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took hours of manual work or a support ticket can take minutes.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867912"/>
            <a:ext cx="10881360" cy="0"/>
          </a:xfrm>
          <a:prstGeom prst="line">
            <a:avLst/>
          </a:prstGeom>
          <a:noFill/>
          <a:ln w="12700">
            <a:solidFill>
              <a:srgbClr val="E2E5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023360"/>
            <a:ext cx="566928" cy="5669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023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396849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by doing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434840" y="3886200"/>
            <a:ext cx="6720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AI explanations builds real understanding of how automations work.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919472"/>
            <a:ext cx="10881360" cy="0"/>
          </a:xfrm>
          <a:prstGeom prst="line">
            <a:avLst/>
          </a:prstGeom>
          <a:noFill/>
          <a:ln w="12700">
            <a:solidFill>
              <a:srgbClr val="E2E5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5074920"/>
            <a:ext cx="566928" cy="5669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5074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54480" y="502005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4434840" y="4937760"/>
            <a:ext cx="6720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copy-paste errors in repetitive spreadsheet or reporting tasks.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LIMITATIONS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&amp; Limitations of AI-Generated 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566928" cy="56692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202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186537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Confident but wrong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617720" y="1783080"/>
            <a:ext cx="6537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can look correct and still contain subtle mistakes or bad assumptions.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816352"/>
            <a:ext cx="10881360" cy="0"/>
          </a:xfrm>
          <a:prstGeom prst="line">
            <a:avLst/>
          </a:prstGeom>
          <a:noFill/>
          <a:ln w="12700">
            <a:solidFill>
              <a:srgbClr val="E2E5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971800"/>
            <a:ext cx="566928" cy="56692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971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91693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gaps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617720" y="2834640"/>
            <a:ext cx="6537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handle passwords, data, or permissions insecurely if not told to prioritize it.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867912"/>
            <a:ext cx="10881360" cy="0"/>
          </a:xfrm>
          <a:prstGeom prst="line">
            <a:avLst/>
          </a:prstGeom>
          <a:noFill/>
          <a:ln w="12700">
            <a:solidFill>
              <a:srgbClr val="E2E5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023360"/>
            <a:ext cx="566928" cy="56692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023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396849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business context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617720" y="3886200"/>
            <a:ext cx="6537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doesn't know your company's exceptions, edge cases, or policies.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919472"/>
            <a:ext cx="10881360" cy="0"/>
          </a:xfrm>
          <a:prstGeom prst="line">
            <a:avLst/>
          </a:prstGeom>
          <a:noFill/>
          <a:ln w="12700">
            <a:solidFill>
              <a:srgbClr val="E2E5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5074920"/>
            <a:ext cx="566928" cy="56692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5074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54480" y="502005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Needs testing, always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4617720" y="4937760"/>
            <a:ext cx="6537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AI-generated script should be tested on sample data before real use.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USE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Principles for Responsible Use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44240" cy="1691640"/>
          </a:xfrm>
          <a:prstGeom prst="roundRect">
            <a:avLst>
              <a:gd name="adj" fmla="val 5405"/>
            </a:avLst>
          </a:prstGeom>
          <a:solidFill>
            <a:srgbClr val="1B2338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2029968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212848"/>
            <a:ext cx="3041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before you trust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2724912"/>
            <a:ext cx="30419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B9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any AI-generated script on sample or non-critical data first.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358640" y="1828800"/>
            <a:ext cx="3444240" cy="1691640"/>
          </a:xfrm>
          <a:prstGeom prst="roundRect">
            <a:avLst>
              <a:gd name="adj" fmla="val 5405"/>
            </a:avLst>
          </a:prstGeom>
          <a:solidFill>
            <a:srgbClr val="1B2338"/>
          </a:solidFill>
          <a:ln/>
        </p:spPr>
      </p:sp>
      <p:sp>
        <p:nvSpPr>
          <p:cNvPr id="9" name="Shape 7"/>
          <p:cNvSpPr/>
          <p:nvPr/>
        </p:nvSpPr>
        <p:spPr>
          <a:xfrm>
            <a:off x="4559808" y="2029968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559808" y="2212848"/>
            <a:ext cx="3041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confidential data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59808" y="2724912"/>
            <a:ext cx="30419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B9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paste customer data, credentials, or trade secrets into public AI tools.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077200" y="1828800"/>
            <a:ext cx="3444240" cy="1691640"/>
          </a:xfrm>
          <a:prstGeom prst="roundRect">
            <a:avLst>
              <a:gd name="adj" fmla="val 5405"/>
            </a:avLst>
          </a:prstGeom>
          <a:solidFill>
            <a:srgbClr val="1B2338"/>
          </a:solidFill>
          <a:ln/>
        </p:spPr>
      </p:sp>
      <p:sp>
        <p:nvSpPr>
          <p:cNvPr id="13" name="Shape 11"/>
          <p:cNvSpPr/>
          <p:nvPr/>
        </p:nvSpPr>
        <p:spPr>
          <a:xfrm>
            <a:off x="8278368" y="2029968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8278368" y="2212848"/>
            <a:ext cx="3041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technical review for critical systems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78368" y="2724912"/>
            <a:ext cx="30419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B9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touching finance, HR, or customer systems should be checked by IT.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40080" y="3794760"/>
            <a:ext cx="3444240" cy="1691640"/>
          </a:xfrm>
          <a:prstGeom prst="roundRect">
            <a:avLst>
              <a:gd name="adj" fmla="val 5405"/>
            </a:avLst>
          </a:prstGeom>
          <a:solidFill>
            <a:srgbClr val="1B2338"/>
          </a:solidFill>
          <a:ln/>
        </p:spPr>
      </p:sp>
      <p:sp>
        <p:nvSpPr>
          <p:cNvPr id="17" name="Shape 15"/>
          <p:cNvSpPr/>
          <p:nvPr/>
        </p:nvSpPr>
        <p:spPr>
          <a:xfrm>
            <a:off x="841248" y="3995928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4178808"/>
            <a:ext cx="3041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before you run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" y="4690872"/>
            <a:ext cx="30419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B9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can't explain what a script does, ask the AI to walk you through it first.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4358640" y="3794760"/>
            <a:ext cx="3444240" cy="1691640"/>
          </a:xfrm>
          <a:prstGeom prst="roundRect">
            <a:avLst>
              <a:gd name="adj" fmla="val 5405"/>
            </a:avLst>
          </a:prstGeom>
          <a:solidFill>
            <a:srgbClr val="1B2338"/>
          </a:solidFill>
          <a:ln/>
        </p:spPr>
      </p:sp>
      <p:sp>
        <p:nvSpPr>
          <p:cNvPr id="21" name="Shape 19"/>
          <p:cNvSpPr/>
          <p:nvPr/>
        </p:nvSpPr>
        <p:spPr>
          <a:xfrm>
            <a:off x="4559808" y="3995928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4559808" y="4178808"/>
            <a:ext cx="3041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a human in the loop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59808" y="4690872"/>
            <a:ext cx="30419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B9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AI output as a well-informed draft, not a final, unquestioned answer.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8077200" y="3794760"/>
            <a:ext cx="3444240" cy="1691640"/>
          </a:xfrm>
          <a:prstGeom prst="roundRect">
            <a:avLst>
              <a:gd name="adj" fmla="val 5405"/>
            </a:avLst>
          </a:prstGeom>
          <a:solidFill>
            <a:srgbClr val="1B2338"/>
          </a:solidFill>
          <a:ln/>
        </p:spPr>
      </p:sp>
      <p:sp>
        <p:nvSpPr>
          <p:cNvPr id="25" name="Shape 23"/>
          <p:cNvSpPr/>
          <p:nvPr/>
        </p:nvSpPr>
        <p:spPr>
          <a:xfrm>
            <a:off x="8278368" y="3995928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8278368" y="4178808"/>
            <a:ext cx="3041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what you deploy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78368" y="4690872"/>
            <a:ext cx="304190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B9C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what the automation does and who to contact if it breaks.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Templates You Can Reuse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29968"/>
            <a:ext cx="164592" cy="16459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78308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657600" y="1783080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3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“Write a [tool] script that [task]. Input: [x]. Output: [y].”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640080" y="2578608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EF0F6"/>
          </a:solidFill>
          <a:ln w="12700">
            <a:solidFill>
              <a:srgbClr val="E2E5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825496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578608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 an error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657600" y="2578608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3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“Explain this error in plain language and how to fix it: [paste error].”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640080" y="3374136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621024"/>
            <a:ext cx="164592" cy="16459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3374136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657600" y="3374136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3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“Add comments explaining what this code does, for a non-technical reader.”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640080" y="4169664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EEF0F6"/>
          </a:solidFill>
          <a:ln w="12700">
            <a:solidFill>
              <a:srgbClr val="E2E5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416552"/>
            <a:ext cx="164592" cy="164592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4169664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657600" y="4169664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3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“Suggest ways to make this script faster or more reliable.”</a:t>
            </a:r>
            <a:endParaRPr lang="en-US" sz="1230" dirty="0"/>
          </a:p>
        </p:txBody>
      </p:sp>
      <p:sp>
        <p:nvSpPr>
          <p:cNvPr id="20" name="Shape 18"/>
          <p:cNvSpPr/>
          <p:nvPr/>
        </p:nvSpPr>
        <p:spPr>
          <a:xfrm>
            <a:off x="640080" y="4965192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5212080"/>
            <a:ext cx="164592" cy="16459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2" name="Text 20"/>
          <p:cNvSpPr/>
          <p:nvPr/>
        </p:nvSpPr>
        <p:spPr>
          <a:xfrm>
            <a:off x="1188720" y="4965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Sanity-check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657600" y="4965192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3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could go wrong with this if my data changes?”</a:t>
            </a:r>
            <a:endParaRPr lang="en-US" sz="123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1A2138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3657600" cy="3657600"/>
          </a:xfrm>
          <a:prstGeom prst="ellipse">
            <a:avLst/>
          </a:prstGeom>
          <a:solidFill>
            <a:srgbClr val="181F3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148840"/>
            <a:ext cx="10241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don't need to code to benefit</a:t>
            </a:r>
            <a:endParaRPr lang="en-US" sz="3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AI coding assistants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822960" y="384048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AE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with clear instructions and a healthy dose of testing, these tools turn good ideas into working automations — safely.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470916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task clearly: tool, input, and desired output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521208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516636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test AI-generated code before using it on real data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5669280"/>
            <a:ext cx="109728" cy="109728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562356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share confidential data with public AI tools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48874E4F5B8A6478AFC995DFEB7EEAB" ma:contentTypeVersion="3" ma:contentTypeDescription="Create a new document." ma:contentTypeScope="" ma:versionID="81a2e35bb9b8b01befbfdf5efea8a0ef">
  <xsd:schema xmlns:xsd="http://www.w3.org/2001/XMLSchema" xmlns:xs="http://www.w3.org/2001/XMLSchema" xmlns:p="http://schemas.microsoft.com/office/2006/metadata/properties" xmlns:ns2="6546cf34-9068-4457-9a87-2605d6f73c4f" targetNamespace="http://schemas.microsoft.com/office/2006/metadata/properties" ma:root="true" ma:fieldsID="2c193b2ef4f2a30eec065c8b72551097" ns2:_="">
    <xsd:import namespace="6546cf34-9068-4457-9a87-2605d6f73c4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46cf34-9068-4457-9a87-2605d6f73c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4DA97D-6580-4CFD-B436-0E98B2BC1E3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5DF9FCA-ABD8-437A-A628-D15EEF71D4B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BAB7DFB-286B-4FA5-951C-BED67A0D5C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546cf34-9068-4457-9a87-2605d6f73c4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2</cp:revision>
  <dcterms:created xsi:type="dcterms:W3CDTF">2026-07-27T11:04:08Z</dcterms:created>
  <dcterms:modified xsi:type="dcterms:W3CDTF">2026-08-02T08:44:46Z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0x010100A48874E4F5B8A6478AFC995DFEB7EEAB</vt:lpwstr>
  </property>
</Properties>
</file>