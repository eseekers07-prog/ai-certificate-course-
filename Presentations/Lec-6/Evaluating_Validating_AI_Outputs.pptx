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222D3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2743200" cy="2743200"/>
          </a:xfrm>
          <a:prstGeom prst="ellipse">
            <a:avLst/>
          </a:prstGeom>
          <a:solidFill>
            <a:srgbClr val="24302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F2A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•  BIAS  •  HUMAN OVERSIGHT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&amp; Validating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Outputs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B4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 AI work for accuracy, bias, and errors before you rely on it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280160" cy="0"/>
          </a:xfrm>
          <a:prstGeom prst="line">
            <a:avLst/>
          </a:prstGeom>
          <a:noFill/>
          <a:ln w="38100">
            <a:solidFill>
              <a:srgbClr val="C15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evaluation techniques, tool selection guidance, and lab report skills for any professional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Accuracy, Relevance &amp; Completeness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use any AI-generated answer, run it through three quick lenses — it takes seconds and catches most problems.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423160"/>
            <a:ext cx="731520" cy="73152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7" name="Text 5"/>
          <p:cNvSpPr/>
          <p:nvPr/>
        </p:nvSpPr>
        <p:spPr>
          <a:xfrm>
            <a:off x="198882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840480"/>
            <a:ext cx="2916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facts, figures, and claims actually correct? Cross-check anything important.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0428" y="2423160"/>
            <a:ext cx="731520" cy="7315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71042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53128" y="3383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840480"/>
            <a:ext cx="2916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actually answer what was asked, or does it drift off-topic?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32036" y="2423160"/>
            <a:ext cx="731520" cy="73152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7" name="Text 15"/>
          <p:cNvSpPr/>
          <p:nvPr/>
        </p:nvSpPr>
        <p:spPr>
          <a:xfrm>
            <a:off x="9432036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74736" y="3383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9328" y="3840480"/>
            <a:ext cx="291693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 A half-answer can be more dangerous than no answer.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Running the Three-Lens Check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ANSWER TO: “What were our top 3 sales regions last quarter?”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top region was the Northeast, followed by the Midwest. Overall sales grew compared to the prior quarter.”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49040" y="263347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the sales report: the Midwest figure was actually flat, not “grew.”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49040" y="386791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the question asked — no unrelated detail.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166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49040" y="510235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the requested 3 regions were named — the third is missing entirely.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Hallucinations &amp; AI Errors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“hallucination” is confident, fluent, and completely wrong — invented statistics, fake citations, or events that never happened.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BEE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Oddly specific numbers or dates with no clear source.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or links that don't actually exist when checked.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between two parts of the same answer.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14884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E9F2E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CATCH THEM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83464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cite its source, then verify that source independently.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specific claim yourself in a trusted database or search engine.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directly: “How confident are you, and why?” — vague answers are a warning sign.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Catching a Fabricated Citation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BEE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CLAIM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“According to a 2024 study published in the Journal of Workplace Analytics, remote workers are 34% more productive.”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VERIFICATION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1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give me the exact title, authors, and publication link for that study?”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A22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8646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either can't produce a real citation, or a quick search shows no such journal or study exists — confirming the number was invented.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Fairness 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reflects patterns in its training data — including real-world imbalances. A fairness check should be routine, not an afterthought.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stereotypes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output default to one gender, age, or background for certain roles?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language and tone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tone equally respectful and professional across different groups mentioned?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swap test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420624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name, gender, or location in your prompt — does the quality of the answer change?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directly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525780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this be interpreted as unfair or biased toward any group?” often surfaces blind spots.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Revising a Biased Job Ad Draft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FBEE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 — UNREVIEWED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looking for a young, energetic salesman who can work long hours and fit in with our fast-paced team.”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“young” (age bias), “salesman” (gender-coded), “fit in” (vague, exclusionary).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E9F2E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92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AFTER BIAS 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looking for a motivated sales representative who thrives in a fast-paced environment and collaborates well with a diverse team.”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3611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prompt: “Rewrite this job ad to remove age, gender, or exclusionary language.”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Validation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person actively reviewing AI output at key checkpoints — not just skimming, but genuinely evaluating before it's used.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Matters Most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decisions: hiring, medical, financial, or legal contexts.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published externally under your organization's name.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processes that act on data without a pause for review.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10312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A2226"/>
          </a:solidFill>
          <a:ln/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37744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Good Review Looks Like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full output, not just the first line or conclusion.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against the original request — did it actually deliver?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willing to reject or heavily edit, not just rubber-stamp.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Simple Review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1912" y="2633472"/>
            <a:ext cx="585216" cy="585216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6" name="Text 4"/>
          <p:cNvSpPr/>
          <p:nvPr/>
        </p:nvSpPr>
        <p:spPr>
          <a:xfrm>
            <a:off x="1581912" y="26334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first version based on your prompt.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108960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64992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2633472"/>
            <a:ext cx="585216" cy="585216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06824" y="26334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2152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Fact-Check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3794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claims and figures are verified against a trusted source.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833872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9904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31736" y="2633472"/>
            <a:ext cx="585216" cy="585216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8" name="Text 16"/>
          <p:cNvSpPr/>
          <p:nvPr/>
        </p:nvSpPr>
        <p:spPr>
          <a:xfrm>
            <a:off x="7031736" y="26334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27064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2784" y="3794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qualified person reads the full output critically.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558784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14816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2F6F5E"/>
          </a:solidFill>
          <a:ln/>
          <a:effectLst>
            <a:outerShdw sx="100000" sy="100000" kx="0" ky="0" algn="bl" rotWithShape="0" blurRad="76200" dist="25400" dir="5400000">
              <a:srgbClr val="C9D6D1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56648" y="263347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756648" y="26334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51976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Approval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97696" y="3794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signs off, edits, or sends it back for revision.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loop only works if step 3 has real authority to stop or change what happens next.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Right AI Tool for the Task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AI tool is built for every job. Ask these questions before you start, and you'll save yourself a rewrite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need current information?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83480" y="2103120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 tools may not know recent events — look for one with live web 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need to cite sources?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3154680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or compliance work, choose a tool that shows verifiable citations.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data sensitive?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83480" y="4206240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may require an enterprise tool with stronger privacy guarantees.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output format?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83480" y="5257800"/>
            <a:ext cx="617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images, spreadsheets, and code each favor different specialized tools.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Matching Tasks to Tool Types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0" cy="502920"/>
          </a:xfrm>
          <a:prstGeom prst="roundRect">
            <a:avLst>
              <a:gd name="adj" fmla="val 10909"/>
            </a:avLst>
          </a:prstGeom>
          <a:solidFill>
            <a:srgbClr val="1A222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Best-Fit Tool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410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6070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an email or memo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 writing assistant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41080" y="2377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conversational, easy to iterate 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607040" cy="685800"/>
          </a:xfrm>
          <a:prstGeom prst="rect">
            <a:avLst/>
          </a:prstGeom>
          <a:solidFill>
            <a:srgbClr val="EE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a current event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live web search &amp; citations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41080" y="3154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up-to-date, verifiable information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6070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 confidential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931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Enterprise/approved internal AI tool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3931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sensitive data within company controls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607040" cy="685800"/>
          </a:xfrm>
          <a:prstGeom prst="rect">
            <a:avLst/>
          </a:prstGeom>
          <a:solidFill>
            <a:srgbClr val="EEF3F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91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marketing graphic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09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generation tool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4108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original visual 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6070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864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financial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54864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Spreadsheet-integrated AI assistant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41080" y="5486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inside your existing formulas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Responsible AI Usage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2996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1284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 you rely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output as a strong first draft, not a finished, trustworthy answer.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5864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9" name="Shape 7"/>
          <p:cNvSpPr/>
          <p:nvPr/>
        </p:nvSpPr>
        <p:spPr>
          <a:xfrm>
            <a:off x="4559808" y="202996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10" name="Text 8"/>
          <p:cNvSpPr/>
          <p:nvPr/>
        </p:nvSpPr>
        <p:spPr>
          <a:xfrm>
            <a:off x="4559808" y="221284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Disclose AI use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59808" y="265176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organization's or institution's policy on labeling AI-assisted work.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7720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8368" y="202996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78368" y="221284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sensitive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8368" y="265176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input confidential or personal information into public AI tools.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99592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7880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human accountable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48" y="461772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with real authority should always be responsible for the final output.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5864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9808" y="399592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59808" y="417880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your process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59808" y="461772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tools and prompts you used — useful for review and learning.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7720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222D3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8368" y="3995928"/>
            <a:ext cx="128016" cy="128016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26" name="Text 24"/>
          <p:cNvSpPr/>
          <p:nvPr/>
        </p:nvSpPr>
        <p:spPr>
          <a:xfrm>
            <a:off x="8278368" y="4178808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current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8368" y="4617720"/>
            <a:ext cx="3041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0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and their limitations change quickly; revisit your assumptions periodically.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Assessment &amp; Lab Report Guidance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assignment involves AI, evaluators aren't just grading the output — they're grading how critically you evaluated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your 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219456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exact prompts you used — not just the final polished result.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3101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what's AI vs. yours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distinguish AI-generated content from your own edits and analysis.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61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 your evaluation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you checked for accuracy, bias, and completeness — and what you found.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10881360" cy="0"/>
          </a:xfrm>
          <a:prstGeom prst="line">
            <a:avLst/>
          </a:prstGeom>
          <a:noFill/>
          <a:ln w="12700">
            <a:solidFill>
              <a:srgbClr val="DDE6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86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413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limitations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534924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where the AI fell short and how that shaped your final decisions.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Simple Lab Report Template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70532"/>
            <a:ext cx="146304" cy="146304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3736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3736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task or question you were addressing.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1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02052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46888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prompts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46888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AI tool(s) and the prompts you gave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433572"/>
            <a:ext cx="146304" cy="146304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20040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output 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20040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brief, neutral summary of what the AI produced.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1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165092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93192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93192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relevance, completeness, and any bias checks performed.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896612"/>
            <a:ext cx="146304" cy="146304"/>
          </a:xfrm>
          <a:prstGeom prst="ellipse">
            <a:avLst/>
          </a:prstGeom>
          <a:solidFill>
            <a:srgbClr val="2F6F5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66344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Edits &amp; corrections made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66344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changed, added, or removed, and why.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1"/>
          </a:solidFill>
          <a:ln w="12700">
            <a:solidFill>
              <a:srgbClr val="DDE6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628132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394960"/>
            <a:ext cx="2926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limitations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5394960"/>
            <a:ext cx="7086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final takeaway and what you'd verify further next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22D3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F2A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AI output the way you'd trust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sharp, occasionally wrong intern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B4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fast, and worth having — but every piece of important work still deserves your own careful review.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9728" cy="109728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463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important answer through Accuracy – Relevance – Completeness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109728" cy="109728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3035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anything that sounds oddly specific or citation-based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109728" cy="109728"/>
          </a:xfrm>
          <a:prstGeom prst="ellipse">
            <a:avLst/>
          </a:prstGeom>
          <a:solidFill>
            <a:srgbClr val="6FBF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760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with real authority in the loop for high-stakes decisions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B60668-027A-4273-9A09-8F79B80A12C7}"/>
</file>

<file path=customXml/itemProps2.xml><?xml version="1.0" encoding="utf-8"?>
<ds:datastoreItem xmlns:ds="http://schemas.openxmlformats.org/officeDocument/2006/customXml" ds:itemID="{6CF45C7B-1086-4D51-A54A-644F2B2F791C}"/>
</file>

<file path=customXml/itemProps3.xml><?xml version="1.0" encoding="utf-8"?>
<ds:datastoreItem xmlns:ds="http://schemas.openxmlformats.org/officeDocument/2006/customXml" ds:itemID="{4F0FB029-A418-42B8-A038-CDAD4A0A21C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2026-07-28T09:03:44Z</dcterms:created>
  <dcterms:modified xsi:type="dcterms:W3CDTF">2026-07-28T09:03:44Z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