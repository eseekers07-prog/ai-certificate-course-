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554480"/>
            <a:ext cx="5120640" cy="512064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97680"/>
            <a:ext cx="2743200" cy="2743200"/>
          </a:xfrm>
          <a:prstGeom prst="ellipse">
            <a:avLst/>
          </a:prstGeom>
          <a:solidFill>
            <a:srgbClr val="152D52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663440"/>
            <a:ext cx="3108960" cy="3108960"/>
          </a:xfrm>
          <a:prstGeom prst="ellipse">
            <a:avLst/>
          </a:prstGeom>
          <a:solidFill>
            <a:srgbClr val="11264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AI  •  CASE STUDIES  •  GOVERNANCE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Across Industries:</a:t>
            </a:r>
            <a:endParaRPr lang="en-US" sz="3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Practical Introduction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is reshaping customer service, marketing, HR, healthcare, education, legal, and operations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029200"/>
            <a:ext cx="1280160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12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techniques, case studies, and governance principles for the modern workplace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Customer Service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now handles the first line of customer contact — freeing human agents to focus on complex, high-value conversations.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671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 chatbots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43400" y="2103120"/>
            <a:ext cx="6812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common questions instantly, any time of day, without waiting on hold.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44952"/>
            <a:ext cx="10881360" cy="0"/>
          </a:xfrm>
          <a:prstGeom prst="line">
            <a:avLst/>
          </a:prstGeom>
          <a:noFill/>
          <a:ln w="12700">
            <a:solidFill>
              <a:srgbClr val="E2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29184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21868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detection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43400" y="3154680"/>
            <a:ext cx="6812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frustrated or urgent customers so they're routed to a human faster.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96512"/>
            <a:ext cx="10881360" cy="0"/>
          </a:xfrm>
          <a:prstGeom prst="line">
            <a:avLst/>
          </a:prstGeom>
          <a:noFill/>
          <a:ln w="12700">
            <a:solidFill>
              <a:srgbClr val="E2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34340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27024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summarization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343400" y="4206240"/>
            <a:ext cx="6812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Condenses long chat or email threads into a quick summary for agents.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48072"/>
            <a:ext cx="10881360" cy="0"/>
          </a:xfrm>
          <a:prstGeom prst="line">
            <a:avLst/>
          </a:prstGeom>
          <a:noFill/>
          <a:ln w="12700">
            <a:solidFill>
              <a:srgbClr val="E2E5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394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53218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Draft-then-personalize replies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343400" y="5257800"/>
            <a:ext cx="6812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a response; the agent reviews and adds a human touch before sending.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Summarizing a Support Conversation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AF2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“Summarize this 20-message support chat, note whether the issue was resolved, and suggest one follow-up action.”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5074920" cy="2651760"/>
          </a:xfrm>
          <a:prstGeom prst="roundRect">
            <a:avLst>
              <a:gd name="adj" fmla="val 4138"/>
            </a:avLst>
          </a:prstGeom>
          <a:solidFill>
            <a:srgbClr val="F3F0EA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4617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back-and-forth messages about a delayed shipment, mixed with small talk and repeated questions.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3017520"/>
            <a:ext cx="5074920" cy="2651760"/>
          </a:xfrm>
          <a:prstGeom prst="roundRect">
            <a:avLst>
              <a:gd name="adj" fmla="val 4138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09360" y="3566160"/>
            <a:ext cx="4617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“Customer's package was delayed 5 days; refund was issued. Not yet resolved: customer wants shipping fee waived. Suggested action: offer a discount code on next order.”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agents resolve tickets faster because they start with the full picture, not a scroll-through.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CONTENT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Marketing &amp; Content Creation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accelerates the content cycle — from brainstorming to drafting to adapting one idea across many channels.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806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76200" dist="25400" dir="5400000">
              <a:srgbClr val="C7CCD9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7744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350008"/>
            <a:ext cx="4274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generation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48234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social posts, ad copy, email campaigns, and blog outlines in minutes.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0780" y="2148840"/>
            <a:ext cx="52806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76200" dist="25400" dir="5400000">
              <a:srgbClr val="C7CCD9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69380" y="2377440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64693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63740" y="2350008"/>
            <a:ext cx="4274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A/B variation testing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69380" y="2971800"/>
            <a:ext cx="48234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multiple headline or copy variants to test what resonates.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52806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76200" dist="25400" dir="5400000">
              <a:srgbClr val="C7CCD9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48056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453128"/>
            <a:ext cx="4274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Audience personalization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8680" y="5074920"/>
            <a:ext cx="48234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Tailors messaging tone and content for different customer segments.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40780" y="4251960"/>
            <a:ext cx="52806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76200" dist="25400" dir="5400000">
              <a:srgbClr val="C7CCD9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69380" y="4480560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64693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63740" y="4453128"/>
            <a:ext cx="4274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Repurposing content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69380" y="5074920"/>
            <a:ext cx="48234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one webinar or article into social posts, captions, and a newsletter blurb.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CONTENT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Generating Campaign Variations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BF3E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5 Instagram captions for a fall coffee promotion, playful tone, under 20 words each.”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255264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552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3154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“Sweater weather calls for a warmer cup. ☕ Fall flavors are back!”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21608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EFF1F6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822192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221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3721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“Pumpkin spice season is here — grab yours before it's gone.”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288536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38912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389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80160" y="428853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“Cozy season, cozy cup. New fall menu starts today.”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855464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EFF1F6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956048"/>
            <a:ext cx="256032" cy="25603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956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80160" y="485546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“Leaves are falling, so are our prices. Fall combo, $4.99.”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422392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522976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5229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80160" y="542239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new favorite fall ritual starts with one sip.”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Human Resource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supports HR teams across the employee lifecycle — from writing the job posting to answering day-to-day policy questions.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671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descriptions &amp; postings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09160" y="2103120"/>
            <a:ext cx="6446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clear, inclusive job ads in minutes, then customize for each role.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44952"/>
            <a:ext cx="10881360" cy="0"/>
          </a:xfrm>
          <a:prstGeom prst="line">
            <a:avLst/>
          </a:prstGeom>
          <a:noFill/>
          <a:ln w="12700">
            <a:solidFill>
              <a:srgbClr val="E2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29184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2186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screening support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3154680"/>
            <a:ext cx="6446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surface qualified candidates faster — always with human final review.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96512"/>
            <a:ext cx="10881360" cy="0"/>
          </a:xfrm>
          <a:prstGeom prst="line">
            <a:avLst/>
          </a:prstGeom>
          <a:noFill/>
          <a:ln w="12700">
            <a:solidFill>
              <a:srgbClr val="E2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34340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2702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question generation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4206240"/>
            <a:ext cx="6446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structured, role-specific questions and sample strong answers.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48072"/>
            <a:ext cx="10881360" cy="0"/>
          </a:xfrm>
          <a:prstGeom prst="line">
            <a:avLst/>
          </a:prstGeom>
          <a:noFill/>
          <a:ln w="12700">
            <a:solidFill>
              <a:srgbClr val="E2E5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394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53218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&amp; policy Q&amp;A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09160" y="5257800"/>
            <a:ext cx="6446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common new-hire questions instantly via an internal chatbot.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Drafting Structured Interview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AF2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4 structured interview questions for a Marketing Coordinator role, with what a strong answer includes.”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9008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“Describe a campaign you helped launch from start to finish.”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3558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answer covers planning, execution, and a measurable result.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FF1F6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04164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do you prioritize when three deadlines land the same week?”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44074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answer shows a clear method, not just “I work hard.”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9834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0932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“Tell me about a time content didn't perform as expected.”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545896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answer includes what they learned and changed next time.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EDUCATION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Healthcare &amp; Education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fields, AI's biggest impact today is administrative and instructional support — not replacing professional judgment.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07492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76200" dist="25400" dir="5400000">
              <a:srgbClr val="C7CCD9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2316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441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Transcribing and summarizing clinical notes to reduce paperwork time.</a:t>
            </a:r>
            <a:endParaRPr lang="en-US" sz="12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general patient FAQs (hours, prep instructions, billing).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medical literature for faster research — never for diagnosis.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80760" y="2148840"/>
            <a:ext cx="5074920" cy="3931920"/>
          </a:xfrm>
          <a:prstGeom prst="roundRect">
            <a:avLst>
              <a:gd name="adj" fmla="val 279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76200" dist="25400" dir="5400000">
              <a:srgbClr val="C7CCD9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42316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40880" y="24414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3108960"/>
            <a:ext cx="4526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9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practice quizzes and study guides from lesson material.</a:t>
            </a:r>
            <a:endParaRPr lang="en-US" sz="12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D9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Personalizing explanations to a student's current level of understanding.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9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teachers draft lesson plans and grade objective assignments faster.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EDUCATION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Two Prompts, Two Fields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76200" dist="25400" dir="5400000">
              <a:srgbClr val="C7CCD9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984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(Admin)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“Summarize these clinical notes into our standard discharge summary template.”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4526280" cy="1600200"/>
          </a:xfrm>
          <a:prstGeom prst="roundRect">
            <a:avLst>
              <a:gd name="adj" fmla="val 4571"/>
            </a:avLst>
          </a:prstGeom>
          <a:solidFill>
            <a:srgbClr val="F6F7F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443484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clinicians time on paperwork so they can spend more time with patients. A clinician still reviews and signs off.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691640"/>
            <a:ext cx="507492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76200" dist="25400" dir="5400000">
              <a:srgbClr val="C7CCD9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5080" y="196596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95160" y="1984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297180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“Create a 10-question quiz based on this chapter, with an answer key.”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977640"/>
            <a:ext cx="4526280" cy="1600200"/>
          </a:xfrm>
          <a:prstGeom prst="roundRect">
            <a:avLst>
              <a:gd name="adj" fmla="val 4571"/>
            </a:avLst>
          </a:prstGeom>
          <a:solidFill>
            <a:srgbClr val="F6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443484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teachers ready-to-use practice material in minutes, freeing time for individual student support.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BUSINESS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Legal &amp; Business Operations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speeds up document-heavy work — always paired with human review for anything legally or financially binding.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1671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summarization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00600" y="2103120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key terms — payment, termination, renewal clauses — for quick review.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44952"/>
            <a:ext cx="10881360" cy="0"/>
          </a:xfrm>
          <a:prstGeom prst="line">
            <a:avLst/>
          </a:prstGeom>
          <a:noFill/>
          <a:ln w="12700">
            <a:solidFill>
              <a:srgbClr val="E2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29184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91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2186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First-draft document generation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3154680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routine memos, NDAs, or policies for a lawyer to review and finalize.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96512"/>
            <a:ext cx="10881360" cy="0"/>
          </a:xfrm>
          <a:prstGeom prst="line">
            <a:avLst/>
          </a:prstGeom>
          <a:noFill/>
          <a:ln w="12700">
            <a:solidFill>
              <a:srgbClr val="E2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343400"/>
            <a:ext cx="548640" cy="54864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2702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 minutes &amp; reports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4206240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recordings or notes into structured minutes and recurring reports.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48072"/>
            <a:ext cx="10881360" cy="0"/>
          </a:xfrm>
          <a:prstGeom prst="line">
            <a:avLst/>
          </a:prstGeom>
          <a:noFill/>
          <a:ln w="12700">
            <a:solidFill>
              <a:srgbClr val="E2E5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394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53218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documentation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5257800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verbal workflow explanation into a written standard procedure.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BUSINESS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Reviewing a Contract's Key Terms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AF2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“Summarize this vendor contract's payment terms, termination clause, and any auto-renewal conditions.”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10881360" cy="2651760"/>
          </a:xfrm>
          <a:prstGeom prst="roundRect">
            <a:avLst>
              <a:gd name="adj" fmla="val 3448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10332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terms: Net 30, invoiced monthly.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Termination: Either party may cancel with 60 days' written notice.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Auto-renewal: Contract renews annually unless cancelled 90 days before end date.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important: have qualified legal counsel verify any contract summary before acting on it.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Studies of Industry Adoption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806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76200" dist="25400" dir="5400000">
              <a:srgbClr val="C7CCD9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029968"/>
            <a:ext cx="42748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&amp; E-commerce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8234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chatbots handle a large share of routine support chats, letting human agents focus on complex, high-value cases.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0780" y="1828800"/>
            <a:ext cx="52806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76200" dist="25400" dir="5400000">
              <a:srgbClr val="C7CCD9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9380" y="2057400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64693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63740" y="2029968"/>
            <a:ext cx="42748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 &amp; Finance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69380" y="2697480"/>
            <a:ext cx="48234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pattern-detection flags unusual transactions in real time, supporting faster fraud investigation.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806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76200" dist="25400" dir="5400000">
              <a:srgbClr val="C7CCD9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20624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4178808"/>
            <a:ext cx="42748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Systems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4846320"/>
            <a:ext cx="48234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scribe tools transcribe patient visits, cutting clinician documentation time significantly.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40780" y="3977640"/>
            <a:ext cx="52806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76200" dist="25400" dir="5400000">
              <a:srgbClr val="C7CCD9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9380" y="4206240"/>
            <a:ext cx="457200" cy="45720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1" name="Text 19"/>
          <p:cNvSpPr/>
          <p:nvPr/>
        </p:nvSpPr>
        <p:spPr>
          <a:xfrm>
            <a:off x="64693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63740" y="4178808"/>
            <a:ext cx="42748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Platforms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69380" y="4846320"/>
            <a:ext cx="48234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tools adjust pacing and content difficulty to each student in real time.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patterns are illustrative of broad industry trends — always check current, sector-specific reporting for exact figures.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Principles of Responsible AI Governance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691640"/>
          </a:xfrm>
          <a:prstGeom prst="roundRect">
            <a:avLst>
              <a:gd name="adj" fmla="val 5405"/>
            </a:avLst>
          </a:prstGeom>
          <a:solidFill>
            <a:srgbClr val="132A4C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02996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212848"/>
            <a:ext cx="3041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606040"/>
            <a:ext cx="3041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should know when they're interacting with AI, and how it reached a decision.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58640" y="1828800"/>
            <a:ext cx="3444240" cy="1691640"/>
          </a:xfrm>
          <a:prstGeom prst="roundRect">
            <a:avLst>
              <a:gd name="adj" fmla="val 5405"/>
            </a:avLst>
          </a:prstGeom>
          <a:solidFill>
            <a:srgbClr val="132A4C"/>
          </a:solidFill>
          <a:ln/>
        </p:spPr>
      </p:sp>
      <p:sp>
        <p:nvSpPr>
          <p:cNvPr id="9" name="Shape 7"/>
          <p:cNvSpPr/>
          <p:nvPr/>
        </p:nvSpPr>
        <p:spPr>
          <a:xfrm>
            <a:off x="4559808" y="202996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4559808" y="2212848"/>
            <a:ext cx="3041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oversight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59808" y="2606040"/>
            <a:ext cx="3041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remains accountable for reviewing and approving high-stakes AI-assisted decisions.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077200" y="1828800"/>
            <a:ext cx="3444240" cy="1691640"/>
          </a:xfrm>
          <a:prstGeom prst="roundRect">
            <a:avLst>
              <a:gd name="adj" fmla="val 5405"/>
            </a:avLst>
          </a:prstGeom>
          <a:solidFill>
            <a:srgbClr val="132A4C"/>
          </a:solidFill>
          <a:ln/>
        </p:spPr>
      </p:sp>
      <p:sp>
        <p:nvSpPr>
          <p:cNvPr id="13" name="Shape 11"/>
          <p:cNvSpPr/>
          <p:nvPr/>
        </p:nvSpPr>
        <p:spPr>
          <a:xfrm>
            <a:off x="8278368" y="202996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8278368" y="2212848"/>
            <a:ext cx="3041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8368" y="2606040"/>
            <a:ext cx="3041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are tested for bias across groups before deployment, not just after complaints.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3444240" cy="1691640"/>
          </a:xfrm>
          <a:prstGeom prst="roundRect">
            <a:avLst>
              <a:gd name="adj" fmla="val 5405"/>
            </a:avLst>
          </a:prstGeom>
          <a:solidFill>
            <a:srgbClr val="132A4C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" y="399592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178808"/>
            <a:ext cx="3041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&amp; data protection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4572000"/>
            <a:ext cx="3041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and confidential data is handled according to law and company policy.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358640" y="3794760"/>
            <a:ext cx="3444240" cy="1691640"/>
          </a:xfrm>
          <a:prstGeom prst="roundRect">
            <a:avLst>
              <a:gd name="adj" fmla="val 5405"/>
            </a:avLst>
          </a:prstGeom>
          <a:solidFill>
            <a:srgbClr val="132A4C"/>
          </a:solidFill>
          <a:ln/>
        </p:spPr>
      </p:sp>
      <p:sp>
        <p:nvSpPr>
          <p:cNvPr id="21" name="Shape 19"/>
          <p:cNvSpPr/>
          <p:nvPr/>
        </p:nvSpPr>
        <p:spPr>
          <a:xfrm>
            <a:off x="4559808" y="399592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4559808" y="4178808"/>
            <a:ext cx="3041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59808" y="4572000"/>
            <a:ext cx="3041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owner is responsible for each AI system's outcomes and any needed corrections.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077200" y="3794760"/>
            <a:ext cx="3444240" cy="1691640"/>
          </a:xfrm>
          <a:prstGeom prst="roundRect">
            <a:avLst>
              <a:gd name="adj" fmla="val 5405"/>
            </a:avLst>
          </a:prstGeom>
          <a:solidFill>
            <a:srgbClr val="132A4C"/>
          </a:solidFill>
          <a:ln/>
        </p:spPr>
      </p:sp>
      <p:sp>
        <p:nvSpPr>
          <p:cNvPr id="25" name="Shape 23"/>
          <p:cNvSpPr/>
          <p:nvPr/>
        </p:nvSpPr>
        <p:spPr>
          <a:xfrm>
            <a:off x="8278368" y="399592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8278368" y="4178808"/>
            <a:ext cx="3041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compliance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78368" y="4572000"/>
            <a:ext cx="30419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3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aligns with relevant industry regulations and evolving legal requirements.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Practical Governance Checklist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29968"/>
            <a:ext cx="164592" cy="16459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7830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clear policies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794760" y="1783080"/>
            <a:ext cx="7543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AI tools may be used for, and what data can never be shared with them.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0F6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825496"/>
            <a:ext cx="164592" cy="16459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57860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before publishing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94760" y="2578608"/>
            <a:ext cx="7543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externally-facing AI output gets a human review before it goes out.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640080" y="337413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621024"/>
            <a:ext cx="164592" cy="16459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37413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sensitive data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94760" y="3374136"/>
            <a:ext cx="7543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input confidential, financial, or personal data into public AI tools.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640080" y="416966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0F6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416552"/>
            <a:ext cx="164592" cy="16459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4169664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for bias &amp; errors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794760" y="4169664"/>
            <a:ext cx="7543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audit AI outputs for accuracy and unfair patterns.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640080" y="496519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212080"/>
            <a:ext cx="164592" cy="164592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496519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your people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794760" y="4965192"/>
            <a:ext cx="7543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staff know both the capabilities and the limits of the tools they use.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32A4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657600" cy="3657600"/>
          </a:xfrm>
          <a:prstGeom prst="ellipse">
            <a:avLst/>
          </a:prstGeom>
          <a:solidFill>
            <a:srgbClr val="1126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adds the most value where it</a:t>
            </a:r>
            <a:endParaRPr lang="en-US" sz="3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supports people, not replaces them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B9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industry, the winning pattern is the same: AI handles the repetitive work, and people handle the judgment calls.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493776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8920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small: automate one repetitive task in your own role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539496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3492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keep a human reviewing high-stakes AI output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585216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8064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governance isn't a blocker — it's what makes adoption sustainable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8874E4F5B8A6478AFC995DFEB7EEAB" ma:contentTypeVersion="3" ma:contentTypeDescription="Create a new document." ma:contentTypeScope="" ma:versionID="81a2e35bb9b8b01befbfdf5efea8a0ef">
  <xsd:schema xmlns:xsd="http://www.w3.org/2001/XMLSchema" xmlns:xs="http://www.w3.org/2001/XMLSchema" xmlns:p="http://schemas.microsoft.com/office/2006/metadata/properties" xmlns:ns2="6546cf34-9068-4457-9a87-2605d6f73c4f" targetNamespace="http://schemas.microsoft.com/office/2006/metadata/properties" ma:root="true" ma:fieldsID="2c193b2ef4f2a30eec065c8b72551097" ns2:_="">
    <xsd:import namespace="6546cf34-9068-4457-9a87-2605d6f73c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46cf34-9068-4457-9a87-2605d6f73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708F570-D82A-4F79-AD81-FC7CFEE97898}"/>
</file>

<file path=customXml/itemProps2.xml><?xml version="1.0" encoding="utf-8"?>
<ds:datastoreItem xmlns:ds="http://schemas.openxmlformats.org/officeDocument/2006/customXml" ds:itemID="{E9186795-D260-44E7-9D43-097B8A6F7DA9}"/>
</file>

<file path=customXml/itemProps3.xml><?xml version="1.0" encoding="utf-8"?>
<ds:datastoreItem xmlns:ds="http://schemas.openxmlformats.org/officeDocument/2006/customXml" ds:itemID="{5575F18C-00B5-416C-9335-F17FF7E9C92A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2026-07-28T06:37:52Z</dcterms:created>
  <dcterms:modified xsi:type="dcterms:W3CDTF">2026-07-28T06:37:52Z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0x010100A48874E4F5B8A6478AFC995DFEB7EEAB</vt:lpwstr>
  </property>
</Properties>
</file>