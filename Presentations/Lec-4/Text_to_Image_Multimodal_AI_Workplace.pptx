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5120640" cy="5120640"/>
          </a:xfrm>
          <a:prstGeom prst="ellipse">
            <a:avLst/>
          </a:prstGeom>
          <a:solidFill>
            <a:srgbClr val="271A4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2743200" cy="2743200"/>
          </a:xfrm>
          <a:prstGeom prst="ellipse">
            <a:avLst/>
          </a:prstGeom>
          <a:solidFill>
            <a:srgbClr val="2A1C45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2417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 •  MULTIMODAL AI  •  ETHICS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Text-to-Image &amp; Multimodal AI</a:t>
            </a:r>
            <a:endParaRPr lang="en-US" sz="3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Modern Workplace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6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editing, and interpreting images with AI — plus the ethics every professional should know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1280160" cy="0"/>
          </a:xfrm>
          <a:prstGeom prst="line">
            <a:avLst/>
          </a:prstGeom>
          <a:noFill/>
          <a:ln w="38100">
            <a:solidFill>
              <a:srgbClr val="F263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techniques for marketing, communications, HR, and operations professionals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Text-to-Image Generation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turn a written description into an original image by learning patterns from millions of image-and-caption pairs — no drawing skill required, just clear words.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07492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D3CBE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1460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14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(Simplified)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526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description (a “prompt”) of the image you want.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starts from random visual noise and gradually refines it.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refinement step moves the image closer to matching your words.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2194560"/>
            <a:ext cx="5074920" cy="3886200"/>
          </a:xfrm>
          <a:prstGeom prst="roundRect">
            <a:avLst>
              <a:gd name="adj" fmla="val 2824"/>
            </a:avLst>
          </a:prstGeom>
          <a:solidFill>
            <a:srgbClr val="1D1130"/>
          </a:solidFill>
          <a:ln/>
          <a:effectLst>
            <a:outerShdw sx="100000" sy="100000" kx="0" ky="0" algn="bl" rotWithShape="0" blurRad="101600" dist="38100" dir="5400000">
              <a:srgbClr val="D3CBE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514600"/>
            <a:ext cx="594360" cy="59436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514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at Work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55080" y="3246120"/>
            <a:ext cx="4526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original graphics for slides, social posts, and reports in minutes.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ad concepts or mockups before briefing a designer.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reliance on generic stock photography.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Text-to-Image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19456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DALL·E 3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59359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ChatGPT; strong at following detailed instructions.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71216" y="18745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194560"/>
            <a:ext cx="731520" cy="73152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62656" y="31089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Midjourney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62656" y="359359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35808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artistic results; popular for concept art and mood boards.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02352" y="18745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79008" y="219456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779008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93792" y="31089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Adobe Firefly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93792" y="359359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66944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licensed content; built for safe commercial use.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33488" y="18745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10144" y="2194560"/>
            <a:ext cx="731520" cy="73152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24" name="Text 22"/>
          <p:cNvSpPr/>
          <p:nvPr/>
        </p:nvSpPr>
        <p:spPr>
          <a:xfrm>
            <a:off x="8010144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24928" y="31089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Diffusion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24928" y="359359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and customizable; often used via other apps.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64624" y="18745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41280" y="219456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24128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56064" y="31089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656064" y="359359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29216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into Google Workspace and Gemini.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check each tool's commercial-use and copyright terms before using output publicly — they differ significantly.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Framework: Subject-Style-Setting-Mood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70992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1709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7063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 who is the focus? Be specific about details.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6260" y="1709928"/>
            <a:ext cx="640080" cy="64008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1709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77063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Photo-realistic, watercolor, 3D render, flat illustration.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55180" y="170992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155180" y="1709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77063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background or environment the subject sits 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5087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44100" y="1709928"/>
            <a:ext cx="640080" cy="64008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21" name="Text 19"/>
          <p:cNvSpPr/>
          <p:nvPr/>
        </p:nvSpPr>
        <p:spPr>
          <a:xfrm>
            <a:off x="9944100" y="1709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9828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Mood/Light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0" y="277063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dramatic, bright, soft — sets the emotional tone.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FORMAT note too — aspect ratio (square, 16:9, portrait) and composition (close-up, wide shot).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48056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BE9EC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645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1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" y="49834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an image for our product launch.”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448056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EFE8FA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645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49834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sleek water bottle on a wooden table, soft morning light, pastel green background, photorealistic style, 16:9 format.”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Iterating Toward the Right Image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results rarely come from one prompt. Draft, review, then refine specific details — just like giving feedback to a designer.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0487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0632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draft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3474720"/>
            <a:ext cx="29169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banner for our new eco-friendly water bottle.”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5029200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generic and unbranded.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40487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0632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detail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29169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“...on a wooden table, soft morning light, pastel green background.”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5029200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closer, but wrong format.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83296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D1130"/>
          </a:solidFill>
          <a:ln/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39328" y="2404872"/>
            <a:ext cx="502920" cy="50292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39328" y="30632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further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9328" y="3474720"/>
            <a:ext cx="29169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“...photorealistic style, 16:9 landscape, logo area left blank.”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39328" y="5029200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ready for the marketing deck.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EDITING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Editing &amp; Style Modification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creating new images, AI can also modify existing ones — swap backgrounds, change styles, or clean up photos without design software.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2128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swap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3400" y="214884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busy or unbranded background with a clean or on-brand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10881360" cy="0"/>
          </a:xfrm>
          <a:prstGeom prst="line">
            <a:avLst/>
          </a:prstGeom>
          <a:noFill/>
          <a:ln w="12700">
            <a:solidFill>
              <a:srgbClr val="E5DF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644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transfer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320040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Repaint a photo as an illustration, watercolor, or brand-style graphic.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42232"/>
            <a:ext cx="10881360" cy="0"/>
          </a:xfrm>
          <a:prstGeom prst="line">
            <a:avLst/>
          </a:prstGeom>
          <a:noFill/>
          <a:ln w="12700">
            <a:solidFill>
              <a:srgbClr val="E5DF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315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Inpainting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343400" y="425196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replace one specific object or area within an image.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93792"/>
            <a:ext cx="10881360" cy="0"/>
          </a:xfrm>
          <a:prstGeom prst="line">
            <a:avLst/>
          </a:prstGeom>
          <a:noFill/>
          <a:ln w="12700">
            <a:solidFill>
              <a:srgbClr val="E5DF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440680"/>
            <a:ext cx="548640" cy="54864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40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367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Upscaling &amp; cleanup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43400" y="530352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a low-resolution image or remove minor blemishes.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EDITING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Rebranding a Product Photo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FE8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“Remove the background from this product photo and replace it with a soft blue-to-white gradient matching our brand colors.”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074920" cy="2651760"/>
          </a:xfrm>
          <a:prstGeom prst="roundRect">
            <a:avLst>
              <a:gd name="adj" fmla="val 4138"/>
            </a:avLst>
          </a:prstGeom>
          <a:solidFill>
            <a:srgbClr val="F3F0F7"/>
          </a:solidFill>
          <a:ln w="12700">
            <a:solidFill>
              <a:srgbClr val="E5D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 desk background, inconsistent lighting, no brand identity.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3017520"/>
            <a:ext cx="5074920" cy="2651760"/>
          </a:xfrm>
          <a:prstGeom prst="roundRect">
            <a:avLst>
              <a:gd name="adj" fmla="val 4138"/>
            </a:avLst>
          </a:prstGeom>
          <a:solidFill>
            <a:srgbClr val="1D1130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9360" y="356616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gradient background, consistent with brand palette, ready for the website or a catalog.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describe the exact colors or hex codes for consistent, on-brand results.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Multimodal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understands and combines more than one type of input — text, images, and audio — in a single conversation, the way a person naturally does.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34540" y="256032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20345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3016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instructions, questions, and documents.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23317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56148" y="2560320"/>
            <a:ext cx="640080" cy="64008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2" name="Text 10"/>
          <p:cNvSpPr/>
          <p:nvPr/>
        </p:nvSpPr>
        <p:spPr>
          <a:xfrm>
            <a:off x="5756148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53128" y="32918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4568" y="363016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screenshots, charts, and diagrams.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23317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77756" y="256032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9477756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74736" y="32918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66176" y="363016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notes, meeting recordings, spoken questions.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= an AI you can show something to, talk to, and get a written answer from — all in one exchange.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AI in the Workplace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41833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Whiteboard to action list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47685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meeting whiteboard; ask AI to type up the notes as a task list.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0780" y="182880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6812" y="2084832"/>
            <a:ext cx="457200" cy="45720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1" name="Text 9"/>
          <p:cNvSpPr/>
          <p:nvPr/>
        </p:nvSpPr>
        <p:spPr>
          <a:xfrm>
            <a:off x="649681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09460" y="2057400"/>
            <a:ext cx="41833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to insight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6812" y="2697480"/>
            <a:ext cx="47685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chart from a report; ask “what's the key trend here?” for a quick read.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18795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160520"/>
            <a:ext cx="41833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to social caption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6112" y="4800600"/>
            <a:ext cx="47685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product photo; ask for three caption options in your brand voice.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0780" y="393192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6812" y="4187952"/>
            <a:ext cx="457200" cy="45720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681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09460" y="4160520"/>
            <a:ext cx="41833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memo to summary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6812" y="4800600"/>
            <a:ext cx="47685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quick voice note; ask AI to turn it into a written summary or email.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Interpretation Using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models can “read” an image — describing scenes, extracting text, identifying objects, and analyzing charts — no manual typing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212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text in images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2148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from receipts, forms, screenshots, or signage (OCR).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10881360" cy="0"/>
          </a:xfrm>
          <a:prstGeom prst="line">
            <a:avLst/>
          </a:prstGeom>
          <a:noFill/>
          <a:ln w="12700">
            <a:solidFill>
              <a:srgbClr val="E5DF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644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Describing scenes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320040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captions or alt text for accessibility and documentation.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42232"/>
            <a:ext cx="10881360" cy="0"/>
          </a:xfrm>
          <a:prstGeom prst="line">
            <a:avLst/>
          </a:prstGeom>
          <a:noFill/>
          <a:ln w="12700">
            <a:solidFill>
              <a:srgbClr val="E5DF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3159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charts &amp; graphs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425196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trends or pull specific figures from a visual report.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93792"/>
            <a:ext cx="10881360" cy="0"/>
          </a:xfrm>
          <a:prstGeom prst="line">
            <a:avLst/>
          </a:prstGeom>
          <a:noFill/>
          <a:ln w="12700">
            <a:solidFill>
              <a:srgbClr val="E5DF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440680"/>
            <a:ext cx="548640" cy="54864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40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3675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compliance checks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530352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issues like missing logos, wrong colors, or damaged products.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Turning Photos into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Photo of a Receipt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“Extract the vendor name, date, and total amount from this receipt.”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840480"/>
            <a:ext cx="4526280" cy="1737360"/>
          </a:xfrm>
          <a:prstGeom prst="roundRect">
            <a:avLst>
              <a:gd name="adj" fmla="val 4211"/>
            </a:avLst>
          </a:prstGeom>
          <a:solidFill>
            <a:srgbClr val="F8F6F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429768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Vendor: Riverside Office Supply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March 14, 2026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$128.47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965960"/>
            <a:ext cx="502920" cy="502920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1984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Screenshot of a Chart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97180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the trend shown in this chart in two sentences.”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840480"/>
            <a:ext cx="4526280" cy="1737360"/>
          </a:xfrm>
          <a:prstGeom prst="roundRect">
            <a:avLst>
              <a:gd name="adj" fmla="val 4211"/>
            </a:avLst>
          </a:prstGeom>
          <a:solidFill>
            <a:srgbClr val="F8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429768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“Revenue grew steadily through Q2 and Q3, then dipped slightly in Q4 due to seasonal demand.”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Issues: Copyright &amp; Ownership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Issue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26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models were trained on large image collections that included copyrighted work, often without explicit permission.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of an AI-generated image is legally unsettled and varies by country and tool.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1D1130"/>
          </a:solidFill>
          <a:ln/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About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5080" y="260604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tool's commercial-use license before publishing generated images.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tools trained on licensed content (e.g., Adobe Firefly) for client-facing work.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your organization's policy on attribution and usage rights.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Issues: Bias &amp; Representation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5DFF0"/>
            </a:solidFill>
            <a:prstDash val="solid"/>
          </a:ln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Issue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can reflect real-world imbalances, so generated images may default to stereotypical roles, genders, or ethnicities.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prompt like “a doctor” or “a CEO” often produces a narrow, repetitive look.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1D1130"/>
          </a:solidFill>
          <a:ln/>
          <a:effectLst>
            <a:outerShdw sx="100000" sy="100000" kx="0" ky="0" algn="bl" rotWithShape="0" blurRad="76200" dist="25400" dir="5400000">
              <a:srgbClr val="D3CBE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About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5080" y="260604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generated images for stereotypes before using them externally.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diversity intentionally in prompts when depicting people.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second reviewer for anything used in recruiting, training, or public materials.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Misinformation &amp; Responsible 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AI images can also mislead — from harmless mockups mistaken as real, to deliberate deepfakes. A few habits keep your work trustworthy.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281A42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441448"/>
            <a:ext cx="128016" cy="128016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24328"/>
            <a:ext cx="48783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AI-generated images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3136392"/>
            <a:ext cx="48783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C6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note when an image is AI-generated, especially in public or news-adjacent content.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40780" y="224028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281A42"/>
          </a:solidFill>
          <a:ln/>
        </p:spPr>
      </p:sp>
      <p:sp>
        <p:nvSpPr>
          <p:cNvPr id="10" name="Shape 8"/>
          <p:cNvSpPr/>
          <p:nvPr/>
        </p:nvSpPr>
        <p:spPr>
          <a:xfrm>
            <a:off x="6441948" y="2441448"/>
            <a:ext cx="128016" cy="128016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1" name="Text 9"/>
          <p:cNvSpPr/>
          <p:nvPr/>
        </p:nvSpPr>
        <p:spPr>
          <a:xfrm>
            <a:off x="6441948" y="2624328"/>
            <a:ext cx="48783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depict real people without consent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1948" y="3136392"/>
            <a:ext cx="48783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C6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generating realistic images of colleagues, executives, or public figures.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281A42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4544568"/>
            <a:ext cx="128016" cy="128016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727448"/>
            <a:ext cx="48783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before you publish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" y="5239512"/>
            <a:ext cx="48783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C6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 facts, logos, and text shown in AI-generated visuals — errors do slip through.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240780" y="434340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281A42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1948" y="4544568"/>
            <a:ext cx="128016" cy="128016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1948" y="4727448"/>
            <a:ext cx="48783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your organization's guidelines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1948" y="5239512"/>
            <a:ext cx="48783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C6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companies have specific policies on AI image use — check before publishing externally.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71A4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2417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6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AI images start with clear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— and end with a careful eye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6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in detail, iterate like you would with a designer, and always review for accuracy, bias, and rights before you publish.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109728" cy="10972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8920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Subject – Style – Setting – Mood – Format to structure prompts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109728" cy="10972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3492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lets you combine text, images, and audio in one request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5852160"/>
            <a:ext cx="109728" cy="109728"/>
          </a:xfrm>
          <a:prstGeom prst="ellipse">
            <a:avLst/>
          </a:prstGeom>
          <a:solidFill>
            <a:srgbClr val="F2637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8064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copyright terms, review for bias, and label AI images responsibly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85A4DD-FE03-43FD-B5F3-924B9C36D1E3}"/>
</file>

<file path=customXml/itemProps2.xml><?xml version="1.0" encoding="utf-8"?>
<ds:datastoreItem xmlns:ds="http://schemas.openxmlformats.org/officeDocument/2006/customXml" ds:itemID="{969F7150-BAD3-48FC-896D-BE1CC90736D1}"/>
</file>

<file path=customXml/itemProps3.xml><?xml version="1.0" encoding="utf-8"?>
<ds:datastoreItem xmlns:ds="http://schemas.openxmlformats.org/officeDocument/2006/customXml" ds:itemID="{D022CDD3-620C-4566-AE63-17D0D7478ED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2026-07-28T06:31:41Z</dcterms:created>
  <dcterms:modified xsi:type="dcterms:W3CDTF">2026-07-28T06:31:41Z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