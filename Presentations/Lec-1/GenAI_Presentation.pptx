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78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F23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4206240"/>
            <a:ext cx="2743200" cy="2743200"/>
          </a:xfrm>
          <a:prstGeom prst="ellipse">
            <a:avLst/>
          </a:prstGeom>
          <a:solidFill>
            <a:srgbClr val="202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B1E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8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•  GENERATIVE MODELS  •  ETHICS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Artificial Intelligence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Generative AI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2519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Foundations, evolution, applications, and the ethics shaping today's AI systems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029200"/>
            <a:ext cx="1280160" cy="0"/>
          </a:xfrm>
          <a:prstGeom prst="line">
            <a:avLst/>
          </a:prstGeom>
          <a:noFill/>
          <a:ln w="38100">
            <a:solidFill>
              <a:srgbClr val="18C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EA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primer on how machines that create text, code, images, audio, and video actually work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AI, and What Is Generative AI?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749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4E4F2"/>
            </a:solidFill>
            <a:prstDash val="solid"/>
          </a:ln>
          <a:effectLst>
            <a:outerShdw blurRad="101600" dist="38100" dir="5400000" algn="bl" rotWithShape="0">
              <a:srgbClr val="AEB2D9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103120"/>
            <a:ext cx="640080" cy="640080"/>
          </a:xfrm>
          <a:prstGeom prst="ellipse">
            <a:avLst/>
          </a:prstGeom>
          <a:solidFill>
            <a:srgbClr val="6C4F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783080" y="21671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526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 field of building machines that perform tasks requiring human-like intelligence.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rule-based systems, search algorithms, and predictive machine learning.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analyzes, classifies, or predicts from existing data.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1783080"/>
            <a:ext cx="5074920" cy="4297680"/>
          </a:xfrm>
          <a:prstGeom prst="roundRect">
            <a:avLst>
              <a:gd name="adj" fmla="val 2553"/>
            </a:avLst>
          </a:prstGeom>
          <a:solidFill>
            <a:srgbClr val="15173D"/>
          </a:solidFill>
          <a:ln/>
          <a:effectLst>
            <a:outerShdw blurRad="101600" dist="38100" dir="5400000" algn="bl" rotWithShape="0">
              <a:srgbClr val="AEB2D9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2103120"/>
            <a:ext cx="640080" cy="640080"/>
          </a:xfrm>
          <a:prstGeom prst="ellipse">
            <a:avLst/>
          </a:prstGeom>
          <a:solidFill>
            <a:srgbClr val="18C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15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7223760" y="21671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355080" y="2926080"/>
            <a:ext cx="4526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8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AI focused on creating new, original content rather than just analyzing existing data.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D8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from massive datasets to generate text, images, audio, video, or code.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8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tools like ChatGPT, Claude, Gemini, and DALL·E.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AI vs. Generative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5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794760" y="1874520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EDE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55280" y="1874520"/>
            <a:ext cx="3703320" cy="548640"/>
          </a:xfrm>
          <a:prstGeom prst="roundRect">
            <a:avLst>
              <a:gd name="adj" fmla="val 10000"/>
            </a:avLst>
          </a:prstGeom>
          <a:solidFill>
            <a:srgbClr val="1517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94760" y="187452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4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AI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0" y="187452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C7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532888"/>
            <a:ext cx="1069848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53288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2532888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Analyze, classify, or predict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92440" y="253288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original content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282696"/>
            <a:ext cx="10698480" cy="658368"/>
          </a:xfrm>
          <a:prstGeom prst="rect">
            <a:avLst/>
          </a:prstGeom>
          <a:solidFill>
            <a:srgbClr val="EFF0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282696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3282696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label, score, or decision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92440" y="3282696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images, audio, video, or code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032504"/>
            <a:ext cx="1069848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403250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task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0" y="4032504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detection, fraud scoring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092440" y="4032504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an essay, generating an image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782312"/>
            <a:ext cx="10698480" cy="658368"/>
          </a:xfrm>
          <a:prstGeom prst="rect">
            <a:avLst/>
          </a:prstGeom>
          <a:solidFill>
            <a:srgbClr val="EFF0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4782312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style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4782312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for one narrow task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092440" y="478231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broadly, adapts to many prompts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532120"/>
            <a:ext cx="1069848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553212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techniques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31920" y="5532120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trees, regression, classic ML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092440" y="553212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(LLMs), diffusion models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3415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3212" y="63427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of Generative AI Models</a:t>
            </a:r>
            <a:endParaRPr lang="en-US" sz="300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E62CBF6-AAE8-B171-D329-67CD7E843C24}"/>
              </a:ext>
            </a:extLst>
          </p:cNvPr>
          <p:cNvGrpSpPr/>
          <p:nvPr/>
        </p:nvGrpSpPr>
        <p:grpSpPr>
          <a:xfrm>
            <a:off x="548640" y="2427860"/>
            <a:ext cx="11091672" cy="3474720"/>
            <a:chOff x="548640" y="640080"/>
            <a:chExt cx="11091672" cy="3474720"/>
          </a:xfrm>
        </p:grpSpPr>
        <p:sp>
          <p:nvSpPr>
            <p:cNvPr id="4" name="Shape 2"/>
            <p:cNvSpPr/>
            <p:nvPr/>
          </p:nvSpPr>
          <p:spPr>
            <a:xfrm>
              <a:off x="822960" y="2377440"/>
              <a:ext cx="10515600" cy="0"/>
            </a:xfrm>
            <a:prstGeom prst="line">
              <a:avLst/>
            </a:prstGeom>
            <a:noFill/>
            <a:ln w="25400">
              <a:solidFill>
                <a:srgbClr val="E4E4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722376" y="2276856"/>
              <a:ext cx="201168" cy="201168"/>
            </a:xfrm>
            <a:prstGeom prst="ellipse">
              <a:avLst/>
            </a:prstGeom>
            <a:solidFill>
              <a:srgbClr val="6C4FE0"/>
            </a:solidFill>
            <a:ln w="254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822960" y="2057400"/>
              <a:ext cx="0" cy="219456"/>
            </a:xfrm>
            <a:prstGeom prst="line">
              <a:avLst/>
            </a:prstGeom>
            <a:noFill/>
            <a:ln w="19050">
              <a:solidFill>
                <a:srgbClr val="E4E4F2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548640" y="640080"/>
              <a:ext cx="1783080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E4E4F2"/>
              </a:solidFill>
              <a:prstDash val="solid"/>
            </a:ln>
            <a:effectLst>
              <a:outerShdw blurRad="76200" dist="25400" dir="5400000" algn="bl" rotWithShape="0">
                <a:srgbClr val="AEB2D9">
                  <a:alpha val="3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640080" y="713232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6C4FE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</a:t>
              </a:r>
              <a:endParaRPr lang="en-US" sz="1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58368" y="969264"/>
              <a:ext cx="1563624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1250" b="1" dirty="0">
                  <a:solidFill>
                    <a:srgbClr val="1E214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Rule-Based Systems</a:t>
              </a:r>
              <a:endParaRPr lang="en-US" sz="12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58368" y="1389888"/>
              <a:ext cx="1563624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6A6E8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Hand-coded logic and expert systems; no learning from data.</a:t>
              </a:r>
              <a:endParaRPr lang="en-US" sz="95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825496" y="2276856"/>
              <a:ext cx="201168" cy="201168"/>
            </a:xfrm>
            <a:prstGeom prst="ellipse">
              <a:avLst/>
            </a:prstGeom>
            <a:solidFill>
              <a:srgbClr val="6C4FE0"/>
            </a:solidFill>
            <a:ln w="254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2926080" y="2478024"/>
              <a:ext cx="0" cy="219456"/>
            </a:xfrm>
            <a:prstGeom prst="line">
              <a:avLst/>
            </a:prstGeom>
            <a:noFill/>
            <a:ln w="19050">
              <a:solidFill>
                <a:srgbClr val="E4E4F2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2034540" y="2697480"/>
              <a:ext cx="1783080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E4E4F2"/>
              </a:solidFill>
              <a:prstDash val="solid"/>
            </a:ln>
            <a:effectLst>
              <a:outerShdw blurRad="76200" dist="25400" dir="5400000" algn="bl" rotWithShape="0">
                <a:srgbClr val="AEB2D9">
                  <a:alpha val="3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2125980" y="2770632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6C4FE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</a:t>
              </a:r>
              <a:endParaRPr lang="en-US" sz="1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144268" y="3026664"/>
              <a:ext cx="1563624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1250" b="1" dirty="0">
                  <a:solidFill>
                    <a:srgbClr val="1E214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Classic Machine Learning</a:t>
              </a:r>
              <a:endParaRPr lang="en-US" sz="12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144268" y="3447288"/>
              <a:ext cx="1563624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6A6E8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Statistical models learn patterns from labeled examples.</a:t>
              </a:r>
              <a:endParaRPr lang="en-US" sz="95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928616" y="2276856"/>
              <a:ext cx="201168" cy="201168"/>
            </a:xfrm>
            <a:prstGeom prst="ellipse">
              <a:avLst/>
            </a:prstGeom>
            <a:solidFill>
              <a:srgbClr val="6C4FE0"/>
            </a:solidFill>
            <a:ln w="254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5029200" y="2057400"/>
              <a:ext cx="0" cy="219456"/>
            </a:xfrm>
            <a:prstGeom prst="line">
              <a:avLst/>
            </a:prstGeom>
            <a:noFill/>
            <a:ln w="19050">
              <a:solidFill>
                <a:srgbClr val="E4E4F2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4137660" y="640080"/>
              <a:ext cx="1783080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E4E4F2"/>
              </a:solidFill>
              <a:prstDash val="solid"/>
            </a:ln>
            <a:effectLst>
              <a:outerShdw blurRad="76200" dist="25400" dir="5400000" algn="bl" rotWithShape="0">
                <a:srgbClr val="AEB2D9">
                  <a:alpha val="3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4229100" y="713232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6C4FE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3</a:t>
              </a:r>
              <a:endParaRPr lang="en-US" sz="12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4247388" y="969264"/>
              <a:ext cx="1563624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1250" b="1" dirty="0">
                  <a:solidFill>
                    <a:srgbClr val="1E214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Deep Learning &amp; RNNs</a:t>
              </a:r>
              <a:endParaRPr lang="en-US" sz="125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247388" y="1389888"/>
              <a:ext cx="1563624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6A6E8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Neural networks capture sequence and structure in data.</a:t>
              </a:r>
              <a:endParaRPr lang="en-US" sz="95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031736" y="2276856"/>
              <a:ext cx="201168" cy="201168"/>
            </a:xfrm>
            <a:prstGeom prst="ellipse">
              <a:avLst/>
            </a:prstGeom>
            <a:solidFill>
              <a:srgbClr val="6C4FE0"/>
            </a:solidFill>
            <a:ln w="254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22"/>
            <p:cNvSpPr/>
            <p:nvPr/>
          </p:nvSpPr>
          <p:spPr>
            <a:xfrm>
              <a:off x="7132320" y="2478024"/>
              <a:ext cx="0" cy="219456"/>
            </a:xfrm>
            <a:prstGeom prst="line">
              <a:avLst/>
            </a:prstGeom>
            <a:noFill/>
            <a:ln w="19050">
              <a:solidFill>
                <a:srgbClr val="E4E4F2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23"/>
            <p:cNvSpPr/>
            <p:nvPr/>
          </p:nvSpPr>
          <p:spPr>
            <a:xfrm>
              <a:off x="6240780" y="2697480"/>
              <a:ext cx="1783080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E4E4F2"/>
              </a:solidFill>
              <a:prstDash val="solid"/>
            </a:ln>
            <a:effectLst>
              <a:outerShdw blurRad="76200" dist="25400" dir="5400000" algn="bl" rotWithShape="0">
                <a:srgbClr val="AEB2D9">
                  <a:alpha val="3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6332220" y="2770632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6C4FE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4</a:t>
              </a:r>
              <a:endParaRPr lang="en-US" sz="12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6350508" y="3026664"/>
              <a:ext cx="1563624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1250" b="1" dirty="0">
                  <a:solidFill>
                    <a:srgbClr val="1E214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Transformers &amp; LLMs</a:t>
              </a:r>
              <a:endParaRPr lang="en-US" sz="125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6350508" y="3447288"/>
              <a:ext cx="1563624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6A6E8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Attention mechanisms enable large language models like GPT and Claude.</a:t>
              </a:r>
              <a:endParaRPr lang="en-US" sz="95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9134856" y="2276856"/>
              <a:ext cx="201168" cy="201168"/>
            </a:xfrm>
            <a:prstGeom prst="ellipse">
              <a:avLst/>
            </a:prstGeom>
            <a:solidFill>
              <a:srgbClr val="6C4FE0"/>
            </a:solidFill>
            <a:ln w="254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8"/>
            <p:cNvSpPr/>
            <p:nvPr/>
          </p:nvSpPr>
          <p:spPr>
            <a:xfrm>
              <a:off x="9235440" y="2057400"/>
              <a:ext cx="0" cy="219456"/>
            </a:xfrm>
            <a:prstGeom prst="line">
              <a:avLst/>
            </a:prstGeom>
            <a:noFill/>
            <a:ln w="19050">
              <a:solidFill>
                <a:srgbClr val="E4E4F2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29"/>
            <p:cNvSpPr/>
            <p:nvPr/>
          </p:nvSpPr>
          <p:spPr>
            <a:xfrm>
              <a:off x="8343900" y="640080"/>
              <a:ext cx="1783080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E4E4F2"/>
              </a:solidFill>
              <a:prstDash val="solid"/>
            </a:ln>
            <a:effectLst>
              <a:outerShdw blurRad="76200" dist="25400" dir="5400000" algn="bl" rotWithShape="0">
                <a:srgbClr val="AEB2D9">
                  <a:alpha val="3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30"/>
            <p:cNvSpPr/>
            <p:nvPr/>
          </p:nvSpPr>
          <p:spPr>
            <a:xfrm>
              <a:off x="8435340" y="713232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6C4FE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5</a:t>
              </a:r>
              <a:endParaRPr lang="en-US" sz="12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8453628" y="969264"/>
              <a:ext cx="1563624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1250" b="1" dirty="0">
                  <a:solidFill>
                    <a:srgbClr val="1E214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Diffusion Models</a:t>
              </a:r>
              <a:endParaRPr lang="en-US" sz="125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8453628" y="1389888"/>
              <a:ext cx="1563624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6A6E8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Iterative denoising generates realistic images, e.g. DALL·E, Stable Diffusion.</a:t>
              </a:r>
              <a:endParaRPr lang="en-US" sz="95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11237976" y="2276856"/>
              <a:ext cx="201168" cy="201168"/>
            </a:xfrm>
            <a:prstGeom prst="ellipse">
              <a:avLst/>
            </a:prstGeom>
            <a:solidFill>
              <a:srgbClr val="18C7B8"/>
            </a:solidFill>
            <a:ln w="254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11338560" y="2478024"/>
              <a:ext cx="0" cy="219456"/>
            </a:xfrm>
            <a:prstGeom prst="line">
              <a:avLst/>
            </a:prstGeom>
            <a:noFill/>
            <a:ln w="19050">
              <a:solidFill>
                <a:srgbClr val="E4E4F2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Shape 35"/>
            <p:cNvSpPr/>
            <p:nvPr/>
          </p:nvSpPr>
          <p:spPr>
            <a:xfrm>
              <a:off x="9857232" y="2697480"/>
              <a:ext cx="1783080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E4E4F2"/>
              </a:solidFill>
              <a:prstDash val="solid"/>
            </a:ln>
            <a:effectLst>
              <a:outerShdw blurRad="76200" dist="25400" dir="5400000" algn="bl" rotWithShape="0">
                <a:srgbClr val="AEB2D9">
                  <a:alpha val="3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 36"/>
            <p:cNvSpPr/>
            <p:nvPr/>
          </p:nvSpPr>
          <p:spPr>
            <a:xfrm>
              <a:off x="9948672" y="2770632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8C7B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6</a:t>
              </a:r>
              <a:endParaRPr lang="en-US" sz="12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9966960" y="3026664"/>
              <a:ext cx="1563624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1250" b="1" dirty="0">
                  <a:solidFill>
                    <a:srgbClr val="1E214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Multimodal GenAI</a:t>
              </a:r>
              <a:endParaRPr lang="en-US" sz="125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9966960" y="3447288"/>
              <a:ext cx="1563624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6A6E8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Single models reason across text, image, audio, and video together.</a:t>
              </a:r>
              <a:endParaRPr lang="en-US" sz="950" dirty="0"/>
            </a:p>
          </p:txBody>
        </p:sp>
      </p:grpSp>
      <p:sp>
        <p:nvSpPr>
          <p:cNvPr id="41" name="Text 3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Application Domains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13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4F2"/>
            </a:solidFill>
            <a:prstDash val="solid"/>
          </a:ln>
          <a:effectLst>
            <a:outerShdw blurRad="76200" dist="25400" dir="5400000" algn="bl" rotWithShape="0">
              <a:srgbClr val="AEB2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6C4F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1508760" y="2075688"/>
            <a:ext cx="240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295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Chatbots, writing assistants, summarization, translation.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3880" y="1874520"/>
            <a:ext cx="3413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4F2"/>
            </a:solidFill>
            <a:prstDash val="solid"/>
          </a:ln>
          <a:effectLst>
            <a:outerShdw blurRad="76200" dist="25400" dir="5400000" algn="bl" rotWithShape="0">
              <a:srgbClr val="AEB2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02480" y="2103120"/>
            <a:ext cx="502920" cy="502920"/>
          </a:xfrm>
          <a:prstGeom prst="ellipse">
            <a:avLst/>
          </a:prstGeom>
          <a:solidFill>
            <a:srgbClr val="18C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024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5242560" y="2075688"/>
            <a:ext cx="240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02480" y="2743200"/>
            <a:ext cx="295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generation, autocompletion, debugging, refactoring.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874520"/>
            <a:ext cx="3413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4F2"/>
            </a:solidFill>
            <a:prstDash val="solid"/>
          </a:ln>
          <a:effectLst>
            <a:outerShdw blurRad="76200" dist="25400" dir="5400000" algn="bl" rotWithShape="0">
              <a:srgbClr val="AEB2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36280" y="2103120"/>
            <a:ext cx="502920" cy="502920"/>
          </a:xfrm>
          <a:prstGeom prst="ellipse">
            <a:avLst/>
          </a:prstGeom>
          <a:solidFill>
            <a:srgbClr val="6C4F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362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8976360" y="2075688"/>
            <a:ext cx="240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6280" y="2743200"/>
            <a:ext cx="295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Art, product mockups, photo editing, design generation.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3413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4F2"/>
            </a:solidFill>
            <a:prstDash val="solid"/>
          </a:ln>
          <a:effectLst>
            <a:outerShdw blurRad="76200" dist="25400" dir="5400000" algn="bl" rotWithShape="0">
              <a:srgbClr val="AEB2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18C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1508760" y="4270248"/>
            <a:ext cx="240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4937760"/>
            <a:ext cx="295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synthesis, music composition, sound design.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73880" y="4069080"/>
            <a:ext cx="3413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4F2"/>
            </a:solidFill>
            <a:prstDash val="solid"/>
          </a:ln>
          <a:effectLst>
            <a:outerShdw blurRad="76200" dist="25400" dir="5400000" algn="bl" rotWithShape="0">
              <a:srgbClr val="AEB2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02480" y="4297680"/>
            <a:ext cx="502920" cy="502920"/>
          </a:xfrm>
          <a:prstGeom prst="ellipse">
            <a:avLst/>
          </a:prstGeom>
          <a:solidFill>
            <a:srgbClr val="6C4F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0248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10" dirty="0"/>
          </a:p>
        </p:txBody>
      </p:sp>
      <p:sp>
        <p:nvSpPr>
          <p:cNvPr id="27" name="Text 25"/>
          <p:cNvSpPr/>
          <p:nvPr/>
        </p:nvSpPr>
        <p:spPr>
          <a:xfrm>
            <a:off x="5242560" y="4270248"/>
            <a:ext cx="240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02480" y="4937760"/>
            <a:ext cx="295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video generation, editing, animation.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07680" y="4069080"/>
            <a:ext cx="3413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4F2"/>
            </a:solidFill>
            <a:prstDash val="solid"/>
          </a:ln>
          <a:effectLst>
            <a:outerShdw blurRad="76200" dist="25400" dir="5400000" algn="bl" rotWithShape="0">
              <a:srgbClr val="AEB2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36280" y="4297680"/>
            <a:ext cx="502920" cy="502920"/>
          </a:xfrm>
          <a:prstGeom prst="ellipse">
            <a:avLst/>
          </a:prstGeom>
          <a:solidFill>
            <a:srgbClr val="18C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3628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10" dirty="0"/>
          </a:p>
        </p:txBody>
      </p:sp>
      <p:sp>
        <p:nvSpPr>
          <p:cNvPr id="32" name="Text 30"/>
          <p:cNvSpPr/>
          <p:nvPr/>
        </p:nvSpPr>
        <p:spPr>
          <a:xfrm>
            <a:off x="8976360" y="4270248"/>
            <a:ext cx="240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36280" y="4937760"/>
            <a:ext cx="295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text, image, audio &amp; video in one system.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8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Generative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18C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5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600200" y="1874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92024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drafting, coding, and design work, cutting time on repetitive tasks.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10881360" cy="0"/>
          </a:xfrm>
          <a:prstGeom prst="line">
            <a:avLst/>
          </a:prstGeom>
          <a:noFill/>
          <a:ln w="12700">
            <a:solidFill>
              <a:srgbClr val="E4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971800"/>
            <a:ext cx="594360" cy="594360"/>
          </a:xfrm>
          <a:prstGeom prst="ellipse">
            <a:avLst/>
          </a:prstGeom>
          <a:solidFill>
            <a:srgbClr val="18C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5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160020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efficiency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97180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needed for content creation and support workflows.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21608"/>
            <a:ext cx="10881360" cy="0"/>
          </a:xfrm>
          <a:prstGeom prst="line">
            <a:avLst/>
          </a:prstGeom>
          <a:noFill/>
          <a:ln w="12700">
            <a:solidFill>
              <a:srgbClr val="E4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594360" cy="594360"/>
          </a:xfrm>
          <a:prstGeom prst="ellipse">
            <a:avLst/>
          </a:prstGeom>
          <a:solidFill>
            <a:srgbClr val="18C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5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160020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402336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Tailors content, recommendations, and tutoring to individual needs.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773168"/>
            <a:ext cx="10881360" cy="0"/>
          </a:xfrm>
          <a:prstGeom prst="line">
            <a:avLst/>
          </a:prstGeom>
          <a:noFill/>
          <a:ln w="12700">
            <a:solidFill>
              <a:srgbClr val="E4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5074920"/>
            <a:ext cx="594360" cy="594360"/>
          </a:xfrm>
          <a:prstGeom prst="ellipse">
            <a:avLst/>
          </a:prstGeom>
          <a:solidFill>
            <a:srgbClr val="18C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5074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5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21" name="Text 19"/>
          <p:cNvSpPr/>
          <p:nvPr/>
        </p:nvSpPr>
        <p:spPr>
          <a:xfrm>
            <a:off x="1600200" y="5029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 prototyping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0" y="507492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idea generation, design iteration, and experimentation.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Generative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6C4F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600200" y="1874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92024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produce confident but factually incorrect or fabricated content.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10881360" cy="0"/>
          </a:xfrm>
          <a:prstGeom prst="line">
            <a:avLst/>
          </a:prstGeom>
          <a:noFill/>
          <a:ln w="12700">
            <a:solidFill>
              <a:srgbClr val="E4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971800"/>
            <a:ext cx="594360" cy="594360"/>
          </a:xfrm>
          <a:prstGeom prst="ellipse">
            <a:avLst/>
          </a:prstGeom>
          <a:solidFill>
            <a:srgbClr val="6C4F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160020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97180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biases present in training data, which can skew outputs.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21608"/>
            <a:ext cx="10881360" cy="0"/>
          </a:xfrm>
          <a:prstGeom prst="line">
            <a:avLst/>
          </a:prstGeom>
          <a:noFill/>
          <a:ln w="12700">
            <a:solidFill>
              <a:srgbClr val="E4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594360" cy="594360"/>
          </a:xfrm>
          <a:prstGeom prst="ellipse">
            <a:avLst/>
          </a:prstGeom>
          <a:solidFill>
            <a:srgbClr val="6C4F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160020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cost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402336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running large models requires significant resources.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773168"/>
            <a:ext cx="10881360" cy="0"/>
          </a:xfrm>
          <a:prstGeom prst="line">
            <a:avLst/>
          </a:prstGeom>
          <a:noFill/>
          <a:ln w="12700">
            <a:solidFill>
              <a:srgbClr val="E4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5074920"/>
            <a:ext cx="594360" cy="594360"/>
          </a:xfrm>
          <a:prstGeom prst="ellipse">
            <a:avLst/>
          </a:prstGeom>
          <a:solidFill>
            <a:srgbClr val="6C4F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5074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30" dirty="0"/>
          </a:p>
        </p:txBody>
      </p:sp>
      <p:sp>
        <p:nvSpPr>
          <p:cNvPr id="21" name="Text 19"/>
          <p:cNvSpPr/>
          <p:nvPr/>
        </p:nvSpPr>
        <p:spPr>
          <a:xfrm>
            <a:off x="1600200" y="5029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reasoning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0" y="507492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struggle with complex logic, math, or truly novel problems.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7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8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Considerations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44240" cy="1554480"/>
          </a:xfrm>
          <a:prstGeom prst="roundRect">
            <a:avLst>
              <a:gd name="adj" fmla="val 5882"/>
            </a:avLst>
          </a:prstGeom>
          <a:solidFill>
            <a:srgbClr val="1D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075688"/>
            <a:ext cx="128016" cy="128016"/>
          </a:xfrm>
          <a:prstGeom prst="ellipse">
            <a:avLst/>
          </a:prstGeom>
          <a:solidFill>
            <a:srgbClr val="18C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2258568"/>
            <a:ext cx="3041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Misinformation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651760"/>
            <a:ext cx="30419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fake text, images, or video can be used to deceive.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58640" y="1874520"/>
            <a:ext cx="3444240" cy="1554480"/>
          </a:xfrm>
          <a:prstGeom prst="roundRect">
            <a:avLst>
              <a:gd name="adj" fmla="val 5882"/>
            </a:avLst>
          </a:prstGeom>
          <a:solidFill>
            <a:srgbClr val="1D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59808" y="2075688"/>
            <a:ext cx="128016" cy="128016"/>
          </a:xfrm>
          <a:prstGeom prst="ellipse">
            <a:avLst/>
          </a:prstGeom>
          <a:solidFill>
            <a:srgbClr val="18C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59808" y="2258568"/>
            <a:ext cx="3041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Copyright &amp; ownership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59808" y="2651760"/>
            <a:ext cx="30419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remain over training data rights and content ownership.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77200" y="1874520"/>
            <a:ext cx="3444240" cy="1554480"/>
          </a:xfrm>
          <a:prstGeom prst="roundRect">
            <a:avLst>
              <a:gd name="adj" fmla="val 5882"/>
            </a:avLst>
          </a:prstGeom>
          <a:solidFill>
            <a:srgbClr val="1D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78368" y="2075688"/>
            <a:ext cx="128016" cy="128016"/>
          </a:xfrm>
          <a:prstGeom prst="ellipse">
            <a:avLst/>
          </a:prstGeom>
          <a:solidFill>
            <a:srgbClr val="18C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78368" y="2258568"/>
            <a:ext cx="3041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8368" y="2651760"/>
            <a:ext cx="30419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may memorize or expose sensitive personal information.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3444240" cy="1554480"/>
          </a:xfrm>
          <a:prstGeom prst="roundRect">
            <a:avLst>
              <a:gd name="adj" fmla="val 5882"/>
            </a:avLst>
          </a:prstGeom>
          <a:solidFill>
            <a:srgbClr val="1D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1248" y="3904488"/>
            <a:ext cx="128016" cy="128016"/>
          </a:xfrm>
          <a:prstGeom prst="ellipse">
            <a:avLst/>
          </a:prstGeom>
          <a:solidFill>
            <a:srgbClr val="18C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1248" y="4087368"/>
            <a:ext cx="3041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displacement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4480560"/>
            <a:ext cx="30419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may shift or reduce demand for certain roles.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58640" y="3703320"/>
            <a:ext cx="3444240" cy="1554480"/>
          </a:xfrm>
          <a:prstGeom prst="roundRect">
            <a:avLst>
              <a:gd name="adj" fmla="val 5882"/>
            </a:avLst>
          </a:prstGeom>
          <a:solidFill>
            <a:srgbClr val="1D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59808" y="3904488"/>
            <a:ext cx="128016" cy="128016"/>
          </a:xfrm>
          <a:prstGeom prst="ellipse">
            <a:avLst/>
          </a:prstGeom>
          <a:solidFill>
            <a:srgbClr val="18C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59808" y="4087368"/>
            <a:ext cx="3041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59808" y="4480560"/>
            <a:ext cx="30419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responsibility when AI-generated content causes harm.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77200" y="3703320"/>
            <a:ext cx="3444240" cy="1554480"/>
          </a:xfrm>
          <a:prstGeom prst="roundRect">
            <a:avLst>
              <a:gd name="adj" fmla="val 5882"/>
            </a:avLst>
          </a:prstGeom>
          <a:solidFill>
            <a:srgbClr val="1D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78368" y="3904488"/>
            <a:ext cx="128016" cy="128016"/>
          </a:xfrm>
          <a:prstGeom prst="ellipse">
            <a:avLst/>
          </a:prstGeom>
          <a:solidFill>
            <a:srgbClr val="18C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78368" y="4087368"/>
            <a:ext cx="3041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78368" y="4480560"/>
            <a:ext cx="30419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often can't tell how or why a model produced an output.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of Popular GenAI Platforms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84832" cy="34747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E4F2"/>
            </a:solidFill>
            <a:prstDash val="solid"/>
          </a:ln>
          <a:effectLst>
            <a:outerShdw blurRad="76200" dist="25400" dir="5400000" algn="bl" rotWithShape="0">
              <a:srgbClr val="AEB2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16736" y="2286000"/>
            <a:ext cx="731520" cy="731520"/>
          </a:xfrm>
          <a:prstGeom prst="ellipse">
            <a:avLst/>
          </a:prstGeom>
          <a:solidFill>
            <a:srgbClr val="6C4F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16736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6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53872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A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393192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assistant for text, code, and reasoning tasks.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71216" y="1965960"/>
            <a:ext cx="2084832" cy="34747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E4F2"/>
            </a:solidFill>
            <a:prstDash val="solid"/>
          </a:ln>
          <a:effectLst>
            <a:outerShdw blurRad="76200" dist="25400" dir="5400000" algn="bl" rotWithShape="0">
              <a:srgbClr val="AEB2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47872" y="2286000"/>
            <a:ext cx="731520" cy="731520"/>
          </a:xfrm>
          <a:prstGeom prst="ellipse">
            <a:avLst/>
          </a:prstGeom>
          <a:solidFill>
            <a:srgbClr val="18C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47872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15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60" dirty="0"/>
          </a:p>
        </p:txBody>
      </p:sp>
      <p:sp>
        <p:nvSpPr>
          <p:cNvPr id="13" name="Text 11"/>
          <p:cNvSpPr/>
          <p:nvPr/>
        </p:nvSpPr>
        <p:spPr>
          <a:xfrm>
            <a:off x="2962656" y="320040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62656" y="353872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A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35808" y="393192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focused on helpful, honest, and safe conversation.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02352" y="1965960"/>
            <a:ext cx="2084832" cy="34747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E4F2"/>
            </a:solidFill>
            <a:prstDash val="solid"/>
          </a:ln>
          <a:effectLst>
            <a:outerShdw blurRad="76200" dist="25400" dir="5400000" algn="bl" rotWithShape="0">
              <a:srgbClr val="AEB2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79008" y="2286000"/>
            <a:ext cx="731520" cy="731520"/>
          </a:xfrm>
          <a:prstGeom prst="ellipse">
            <a:avLst/>
          </a:prstGeom>
          <a:solidFill>
            <a:srgbClr val="6C4F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79008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760" dirty="0"/>
          </a:p>
        </p:txBody>
      </p:sp>
      <p:sp>
        <p:nvSpPr>
          <p:cNvPr id="19" name="Text 17"/>
          <p:cNvSpPr/>
          <p:nvPr/>
        </p:nvSpPr>
        <p:spPr>
          <a:xfrm>
            <a:off x="5193792" y="320040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93792" y="353872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A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66944" y="393192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assistant integrated across Google's products.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33488" y="1965960"/>
            <a:ext cx="2084832" cy="34747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E4F2"/>
            </a:solidFill>
            <a:prstDash val="solid"/>
          </a:ln>
          <a:effectLst>
            <a:outerShdw blurRad="76200" dist="25400" dir="5400000" algn="bl" rotWithShape="0">
              <a:srgbClr val="AEB2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010144" y="2286000"/>
            <a:ext cx="731520" cy="731520"/>
          </a:xfrm>
          <a:prstGeom prst="ellipse">
            <a:avLst/>
          </a:prstGeom>
          <a:solidFill>
            <a:srgbClr val="18C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10144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15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60" dirty="0"/>
          </a:p>
        </p:txBody>
      </p:sp>
      <p:sp>
        <p:nvSpPr>
          <p:cNvPr id="25" name="Text 23"/>
          <p:cNvSpPr/>
          <p:nvPr/>
        </p:nvSpPr>
        <p:spPr>
          <a:xfrm>
            <a:off x="7424928" y="320040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24928" y="353872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A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98080" y="393192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embedded in Windows, Office, and developer tools.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64624" y="1965960"/>
            <a:ext cx="2084832" cy="34747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E4F2"/>
            </a:solidFill>
            <a:prstDash val="solid"/>
          </a:ln>
          <a:effectLst>
            <a:outerShdw blurRad="76200" dist="25400" dir="5400000" algn="bl" rotWithShape="0">
              <a:srgbClr val="AEB2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241280" y="2286000"/>
            <a:ext cx="731520" cy="731520"/>
          </a:xfrm>
          <a:prstGeom prst="ellipse">
            <a:avLst/>
          </a:prstGeom>
          <a:solidFill>
            <a:srgbClr val="6C4F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24128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60" dirty="0"/>
          </a:p>
        </p:txBody>
      </p:sp>
      <p:sp>
        <p:nvSpPr>
          <p:cNvPr id="31" name="Text 29"/>
          <p:cNvSpPr/>
          <p:nvPr/>
        </p:nvSpPr>
        <p:spPr>
          <a:xfrm>
            <a:off x="9656064" y="320040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DALL·E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56064" y="353872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A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729216" y="393192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Text-to-image model for generating original visual content.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7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1F23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3840480"/>
            <a:ext cx="3657600" cy="3657600"/>
          </a:xfrm>
          <a:prstGeom prst="ellipse">
            <a:avLst/>
          </a:prstGeom>
          <a:solidFill>
            <a:srgbClr val="1B1E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8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 is reshaping how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create, work, and communicate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its foundations, capabilities, and limits is the first step toward using it responsibly.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9728" cy="109728"/>
          </a:xfrm>
          <a:prstGeom prst="ellipse">
            <a:avLst/>
          </a:prstGeom>
          <a:solidFill>
            <a:srgbClr val="18C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4709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traditional AI, powered by transformers &amp; diffusion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5212080"/>
            <a:ext cx="109728" cy="109728"/>
          </a:xfrm>
          <a:prstGeom prst="ellipse">
            <a:avLst/>
          </a:prstGeom>
          <a:solidFill>
            <a:srgbClr val="18C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5166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text, code, image, audio, video &amp; multimodal use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5669280"/>
            <a:ext cx="109728" cy="109728"/>
          </a:xfrm>
          <a:prstGeom prst="ellipse">
            <a:avLst/>
          </a:prstGeom>
          <a:solidFill>
            <a:srgbClr val="18C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5623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innovation with ethics is essential going forward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8874E4F5B8A6478AFC995DFEB7EEAB" ma:contentTypeVersion="3" ma:contentTypeDescription="Create a new document." ma:contentTypeScope="" ma:versionID="81a2e35bb9b8b01befbfdf5efea8a0ef">
  <xsd:schema xmlns:xsd="http://www.w3.org/2001/XMLSchema" xmlns:xs="http://www.w3.org/2001/XMLSchema" xmlns:p="http://schemas.microsoft.com/office/2006/metadata/properties" xmlns:ns2="6546cf34-9068-4457-9a87-2605d6f73c4f" targetNamespace="http://schemas.microsoft.com/office/2006/metadata/properties" ma:root="true" ma:fieldsID="2c193b2ef4f2a30eec065c8b72551097" ns2:_="">
    <xsd:import namespace="6546cf34-9068-4457-9a87-2605d6f73c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46cf34-9068-4457-9a87-2605d6f73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DD48132-1F96-41DE-A6F0-CA4C257283E5}"/>
</file>

<file path=customXml/itemProps2.xml><?xml version="1.0" encoding="utf-8"?>
<ds:datastoreItem xmlns:ds="http://schemas.openxmlformats.org/officeDocument/2006/customXml" ds:itemID="{C1C516C3-64D6-4791-B4A6-7544FE8F4512}"/>
</file>

<file path=customXml/itemProps3.xml><?xml version="1.0" encoding="utf-8"?>
<ds:datastoreItem xmlns:ds="http://schemas.openxmlformats.org/officeDocument/2006/customXml" ds:itemID="{7BEA706F-6BEC-46ED-AB20-1A9822C41BE1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755</Words>
  <Application>Microsoft Office PowerPoint</Application>
  <PresentationFormat>Widescreen</PresentationFormat>
  <Paragraphs>166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Koodeswaran Sajuran</cp:lastModifiedBy>
  <cp:revision>2</cp:revision>
  <dcterms:created xsi:type="dcterms:W3CDTF">2026-07-27T05:30:46Z</dcterms:created>
  <dcterms:modified xsi:type="dcterms:W3CDTF">2026-07-28T06:35:48Z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0x010100A48874E4F5B8A6478AFC995DFEB7EEAB</vt:lpwstr>
  </property>
</Properties>
</file>